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7bbc69b6414ac9" /><Relationship Type="http://schemas.openxmlformats.org/officeDocument/2006/relationships/extended-properties" Target="/docProps/app.xml" Id="R650de44f2e294429" /><Relationship Type="http://schemas.openxmlformats.org/officeDocument/2006/relationships/officeDocument" Target="/ppt/presentation.xml" Id="Reabfc54875f54325" /></Relationships>
</file>

<file path=ppt/presentation.xml><?xml version="1.0" encoding="utf-8"?>
<p:presentation xmlns:p="http://schemas.openxmlformats.org/presentationml/2006/main">
  <p:sldMasterIdLst>
    <p:sldMasterId xmlns:r="http://schemas.openxmlformats.org/officeDocument/2006/relationships" id="2147483648" r:id="R6e730481e0374f48"/>
  </p:sldMasterIdLst>
  <p:notesMasterIdLst>
    <p:notesMasterId xmlns:r="http://schemas.openxmlformats.org/officeDocument/2006/relationships" r:id="R85fc177a273f4ff5"/>
  </p:notesMasterIdLst>
  <p:sldIdLst>
    <p:sldId xmlns:r="http://schemas.openxmlformats.org/officeDocument/2006/relationships" id="256" r:id="Rc822882e24c547a6"/>
    <p:sldId xmlns:r="http://schemas.openxmlformats.org/officeDocument/2006/relationships" id="257" r:id="R59911eff640243bd"/>
    <p:sldId xmlns:r="http://schemas.openxmlformats.org/officeDocument/2006/relationships" id="258" r:id="R7ec81d8bb32c4c17"/>
    <p:sldId xmlns:r="http://schemas.openxmlformats.org/officeDocument/2006/relationships" id="259" r:id="R91fc27ebd92c4240"/>
    <p:sldId xmlns:r="http://schemas.openxmlformats.org/officeDocument/2006/relationships" id="260" r:id="Rd433693287784512"/>
    <p:sldId xmlns:r="http://schemas.openxmlformats.org/officeDocument/2006/relationships" id="261" r:id="Rd887384816084721"/>
    <p:sldId xmlns:r="http://schemas.openxmlformats.org/officeDocument/2006/relationships" id="262" r:id="R0ea9d7a083eb4fbd"/>
    <p:sldId xmlns:r="http://schemas.openxmlformats.org/officeDocument/2006/relationships" id="263" r:id="Rf2fc6363940b422f"/>
    <p:sldId xmlns:r="http://schemas.openxmlformats.org/officeDocument/2006/relationships" id="264" r:id="Rd28c7b8b19674a98"/>
    <p:sldId xmlns:r="http://schemas.openxmlformats.org/officeDocument/2006/relationships" id="265" r:id="Rbfd63e04c69d4f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f46160d6cd4327" /><Relationship Type="http://schemas.openxmlformats.org/officeDocument/2006/relationships/slideMaster" Target="/ppt/slideMasters/slideMaster1.xml" Id="R6e730481e0374f48" /><Relationship Type="http://schemas.openxmlformats.org/officeDocument/2006/relationships/notesMaster" Target="/ppt/notesMasters/notesMaster1.xml" Id="R85fc177a273f4ff5" /><Relationship Type="http://schemas.openxmlformats.org/officeDocument/2006/relationships/presProps" Target="/ppt/presProps.xml" Id="Rd68177e1f87b4b7a" /><Relationship Type="http://schemas.openxmlformats.org/officeDocument/2006/relationships/tableStyles" Target="/ppt/tableStyles.xml" Id="R2c68aba5b0aa49f7" /><Relationship Type="http://schemas.openxmlformats.org/officeDocument/2006/relationships/slide" Target="/ppt/slides/slide1.xml" Id="Rc822882e24c547a6" /><Relationship Type="http://schemas.openxmlformats.org/officeDocument/2006/relationships/slide" Target="/ppt/slides/slide2.xml" Id="R59911eff640243bd" /><Relationship Type="http://schemas.openxmlformats.org/officeDocument/2006/relationships/slide" Target="/ppt/slides/slide3.xml" Id="R7ec81d8bb32c4c17" /><Relationship Type="http://schemas.openxmlformats.org/officeDocument/2006/relationships/slide" Target="/ppt/slides/slide4.xml" Id="R91fc27ebd92c4240" /><Relationship Type="http://schemas.openxmlformats.org/officeDocument/2006/relationships/slide" Target="/ppt/slides/slide5.xml" Id="Rd433693287784512" /><Relationship Type="http://schemas.openxmlformats.org/officeDocument/2006/relationships/slide" Target="/ppt/slides/slide6.xml" Id="Rd887384816084721" /><Relationship Type="http://schemas.openxmlformats.org/officeDocument/2006/relationships/slide" Target="/ppt/slides/slide7.xml" Id="R0ea9d7a083eb4fbd" /><Relationship Type="http://schemas.openxmlformats.org/officeDocument/2006/relationships/slide" Target="/ppt/slides/slide8.xml" Id="Rf2fc6363940b422f" /><Relationship Type="http://schemas.openxmlformats.org/officeDocument/2006/relationships/slide" Target="/ppt/slides/slide9.xml" Id="Rd28c7b8b19674a98" /><Relationship Type="http://schemas.openxmlformats.org/officeDocument/2006/relationships/slide" Target="/ppt/slides/slide10.xml" Id="Rbfd63e04c69d4f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77e00a593449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f1e4f462934117" /><Relationship Type="http://schemas.openxmlformats.org/officeDocument/2006/relationships/notesMaster" Target="/ppt/notesMasters/notesMaster1.xml" Id="R315b7ecc215c49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cff997a0804b4f" /><Relationship Type="http://schemas.openxmlformats.org/officeDocument/2006/relationships/notesMaster" Target="/ppt/notesMasters/notesMaster1.xml" Id="Rd4fbc24b5fbf44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511d6fe14540d6" /><Relationship Type="http://schemas.openxmlformats.org/officeDocument/2006/relationships/notesMaster" Target="/ppt/notesMasters/notesMaster1.xml" Id="R332beb34dd7e47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130460720e4045" /><Relationship Type="http://schemas.openxmlformats.org/officeDocument/2006/relationships/notesMaster" Target="/ppt/notesMasters/notesMaster1.xml" Id="R4ae7177c3ecb40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888ca9d7cb4b86" /><Relationship Type="http://schemas.openxmlformats.org/officeDocument/2006/relationships/notesMaster" Target="/ppt/notesMasters/notesMaster1.xml" Id="R51f268ca813a4d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3033ba75a14d7d" /><Relationship Type="http://schemas.openxmlformats.org/officeDocument/2006/relationships/notesMaster" Target="/ppt/notesMasters/notesMaster1.xml" Id="Rc1d4214199554e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e448f3cfd54dda" /><Relationship Type="http://schemas.openxmlformats.org/officeDocument/2006/relationships/notesMaster" Target="/ppt/notesMasters/notesMaster1.xml" Id="Rc10f1a8f19b24d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5f474baa9b4dbe" /><Relationship Type="http://schemas.openxmlformats.org/officeDocument/2006/relationships/notesMaster" Target="/ppt/notesMasters/notesMaster1.xml" Id="R62ffa30fa97344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520ff89c914f18" /><Relationship Type="http://schemas.openxmlformats.org/officeDocument/2006/relationships/notesMaster" Target="/ppt/notesMasters/notesMaster1.xml" Id="Rcb524c406e0948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d770e3d1d0423e" /><Relationship Type="http://schemas.openxmlformats.org/officeDocument/2006/relationships/notesMaster" Target="/ppt/notesMasters/notesMaster1.xml" Id="R1079b1da2df543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V1-01 — Espace à droite réservé au présentateur.</a:t>
            </a:r>
          </a:p>
          <a:p xmlns:a="http://schemas.openxmlformats.org/drawingml/2006/main">
            <a:r>
              <a:t># V1 — Ma première fiche</a:t>
            </a:r>
          </a:p>
          <a:p xmlns:a="http://schemas.openxmlformats.org/drawingml/2006/main">
            <a:r>
              <a:t>Durée cible : 4 minutes avec pauses. 3 fonds V1-01 à V1-03. Film : plan poitrine à droite, feuille réelle sur table ; pas de capture d’un espace non finalisé. Le texte ci-dessous est à dire. Les indications entre crochets ne sont pas à lire.</a:t>
            </a:r>
          </a:p>
          <a:p xmlns:a="http://schemas.openxmlformats.org/drawingml/2006/main">
            <a:r>
              <a:t/>
            </a:r>
          </a:p>
          <a:p xmlns:a="http://schemas.openxmlformats.org/drawingml/2006/main">
            <a:r>
              <a:t>## Ce que tu dois comprendre avant de filmer</a:t>
            </a:r>
          </a:p>
          <a:p xmlns:a="http://schemas.openxmlformats.org/drawingml/2006/main">
            <a:r>
              <a:t>Le résultat n’est pas une optimisation : c’est une situation lisible. « Je ne sais pas » est une information utile. Une priorité n’est pas une opération juridique. La sécurité du parent passe avant le montant transmis.</a:t>
            </a:r>
          </a:p>
          <a:p xmlns:a="http://schemas.openxmlformats.org/drawingml/2006/main">
            <a:r>
              <a:t>Tu dois pouvoir expliquer en une phrase pourquoi la maison et l’argent disponible ne sont pas interchangeables.</a:t>
            </a:r>
          </a:p>
          <a:p xmlns:a="http://schemas.openxmlformats.org/drawingml/2006/main">
            <a:r>
              <a:t>N’annonce ni délai de résultat fiscal, ni chiffre personnel, ni prix d’un futur pack.</a:t>
            </a:r>
          </a:p>
          <a:p xmlns:a="http://schemas.openxmlformats.org/drawingml/2006/main">
            <a:r>
              <a:t/>
            </a:r>
          </a:p>
          <a:p xmlns:a="http://schemas.openxmlformats.org/drawingml/2006/main">
            <a:r>
              <a:t>## Texte parlé</a:t>
            </a:r>
          </a:p>
          <a:p xmlns:a="http://schemas.openxmlformats.org/drawingml/2006/main">
            <a:r>
              <a:t>[Fond V1-01 — Une fiche pour commencer]</a:t>
            </a:r>
          </a:p>
          <a:p xmlns:a="http://schemas.openxmlformats.org/drawingml/2006/main">
            <a:r>
              <a:t/>
            </a:r>
          </a:p>
          <a:p xmlns:a="http://schemas.openxmlformats.org/drawingml/2006/main">
            <a:r>
              <a:t>Bienvenue. Vous avez peut-être plusieurs questions en tête : la maison, les enfants, le conjoint, les papiers à retrouver. Nous allons commencer beaucoup plus simplement.</a:t>
            </a:r>
          </a:p>
          <a:p xmlns:a="http://schemas.openxmlformats.org/drawingml/2006/main">
            <a:r>
              <a:t/>
            </a:r>
          </a:p>
          <a:p xmlns:a="http://schemas.openxmlformats.org/drawingml/2006/main">
            <a:r>
              <a:t>À la fin de cette première étape, vous aurez trois choses : votre objectif, une information à retrouver et une question à faire vérifier. Rien à signer. Aucun argent à déplacer.</a:t>
            </a:r>
          </a:p>
          <a:p xmlns:a="http://schemas.openxmlformats.org/drawingml/2006/main">
            <a:r>
              <a:t/>
            </a:r>
          </a:p>
          <a:p xmlns:a="http://schemas.openxmlformats.org/drawingml/2006/main">
            <a:r>
              <a:t>Prenez la fiche de situation, ou simplement une feuille blanche. Vous pouvez mettre la vidéo sur pause chaque fois que vous en avez besoin. Tout ce que nous faisons ici est aussi expliqué à l’écrit.</a:t>
            </a:r>
          </a:p>
          <a:p xmlns:a="http://schemas.openxmlformats.org/drawingml/2006/main">
            <a:r>
              <a:t/>
            </a:r>
          </a:p>
          <a:p xmlns:a="http://schemas.openxmlformats.org/drawingml/2006/main">
            <a:r>
              <a:t>En haut de la feuille, écrivez : « Ce que je veux protéger en priorité ». Essayez de répondre avec une phrase concrète. Par exemple : « Je veux que mon conjoint puisse continuer à vivre dans notre logement. » Ou : « Je veux que mes enfants sachent où trouver les documents. »</a:t>
            </a:r>
          </a:p>
          <a:p xmlns:a="http://schemas.openxmlformats.org/drawingml/2006/main">
            <a:r>
              <a:t/>
            </a:r>
          </a:p>
          <a:p xmlns:a="http://schemas.openxmlformats.org/drawingml/2006/main">
            <a:r>
              <a:t>Ce sont deux objectifs différents. C’est important : on ne prépare pas la même discussion selon ce que l’on souhaite vraiment protéger.</a:t>
            </a:r>
          </a:p>
          <a:p xmlns:a="http://schemas.openxmlformats.org/drawingml/2006/main">
            <a:r>
              <a:t/>
            </a:r>
          </a:p>
          <a:p xmlns:a="http://schemas.openxmlformats.org/drawingml/2006/main">
            <a:r>
              <a:t>[Fond V1-02 — Ce que je sais / Ce qui manque / Ma question]</a:t>
            </a:r>
          </a:p>
          <a:p xmlns:a="http://schemas.openxmlformats.org/drawingml/2006/main">
            <a:r>
              <a:t/>
            </a:r>
          </a:p>
          <a:p xmlns:a="http://schemas.openxmlformats.org/drawingml/2006/main">
            <a:r>
              <a:t>Dessinez maintenant trois colonnes. Dans la première, ce que vous savez. Dans la deuxième, ce qui vous manque. Dans la troisième, votre question.</a:t>
            </a:r>
          </a:p>
          <a:p xmlns:a="http://schemas.openxmlformats.org/drawingml/2006/main">
            <a:r>
              <a:t/>
            </a:r>
          </a:p>
          <a:p xmlns:a="http://schemas.openxmlformats.org/drawingml/2006/main">
            <a:r>
              <a:t>Prenons un exemple fictif. Claire écrit : « Nous vivons dans une maison achetée ensemble. » Elle pense connaître sa valeur, mais elle ne sait pas exactement ce que dit l’acte de propriété. Dans la deuxième colonne, elle note donc : « Retrouver le titre et notre contrat de mariage. »</a:t>
            </a:r>
          </a:p>
          <a:p xmlns:a="http://schemas.openxmlformats.org/drawingml/2006/main">
            <a:r>
              <a:t/>
            </a:r>
          </a:p>
          <a:p xmlns:a="http://schemas.openxmlformats.org/drawingml/2006/main">
            <a:r>
              <a:t>Sa question devient : « Qu’est-ce qui appartient aujourd’hui à chacun de nous, et que se passerait-il au premier décès ? »</a:t>
            </a:r>
          </a:p>
          <a:p xmlns:a="http://schemas.openxmlformats.org/drawingml/2006/main">
            <a:r>
              <a:t/>
            </a:r>
          </a:p>
          <a:p xmlns:a="http://schemas.openxmlformats.org/drawingml/2006/main">
            <a:r>
              <a:t>Vous voyez la différence ? Elle n’a pas choisi une solution. Elle a préparé une question précise à laquelle son notaire pourra répondre avec les documents.</a:t>
            </a:r>
          </a:p>
          <a:p xmlns:a="http://schemas.openxmlformats.org/drawingml/2006/main">
            <a:r>
              <a:t/>
            </a:r>
          </a:p>
          <a:p xmlns:a="http://schemas.openxmlformats.org/drawingml/2006/main">
            <a:r>
              <a:t>Si vous ne connaissez pas une information, écrivez « à vérifier ». Ne mettez pas zéro dans une case parce que vous ne savez pas. Zéro veut dire qu’il n’y a rien ; « à vérifier » veut dire que nous n’avons pas encore la réponse.</a:t>
            </a:r>
          </a:p>
          <a:p xmlns:a="http://schemas.openxmlformats.org/drawingml/2006/main">
            <a:r>
              <a:t/>
            </a:r>
          </a:p>
          <a:p xmlns:a="http://schemas.openxmlformats.org/drawingml/2006/main">
            <a:r>
              <a:t>[Fond V1-03 — Ma sécurité d’abord]</a:t>
            </a:r>
          </a:p>
          <a:p xmlns:a="http://schemas.openxmlformats.org/drawingml/2006/main">
            <a:r>
              <a:t/>
            </a:r>
          </a:p>
          <a:p xmlns:a="http://schemas.openxmlformats.org/drawingml/2006/main">
            <a:r>
              <a:t>Avant d’aller plus loin, posez-vous une autre question : de quoi avez-vous besoin pour vivre tranquillement ? Vos dépenses, votre logement, vos projets, les imprévus.</a:t>
            </a:r>
          </a:p>
          <a:p xmlns:a="http://schemas.openxmlformats.org/drawingml/2006/main">
            <a:r>
              <a:t/>
            </a:r>
          </a:p>
          <a:p xmlns:a="http://schemas.openxmlformats.org/drawingml/2006/main">
            <a:r>
              <a:t>Une maison peut avoir une valeur importante sans vous donner de l’argent disponible chaque mois. Et une donation transfère réellement des droits. Il ne faut donc pas décider de donner à partir d’un chiffre isolé.</a:t>
            </a:r>
          </a:p>
          <a:p xmlns:a="http://schemas.openxmlformats.org/drawingml/2006/main">
            <a:r>
              <a:t/>
            </a:r>
          </a:p>
          <a:p xmlns:a="http://schemas.openxmlformats.org/drawingml/2006/main">
            <a:r>
              <a:t>Nous reviendrons sur ces distinctions dans le parcours. Pour aujourd’hui, choisissez une seule action réalisable : retrouver un acte, demander un relevé ou noter votre question.</a:t>
            </a:r>
          </a:p>
          <a:p xmlns:a="http://schemas.openxmlformats.org/drawingml/2006/main">
            <a:r>
              <a:t/>
            </a:r>
          </a:p>
          <a:p xmlns:a="http://schemas.openxmlformats.org/drawingml/2006/main">
            <a:r>
              <a:t>Vous pouvez vous arrêter là. Une fiche claire vaut mieux que dix documents remplis sans comprendre. Quand vous êtes prêt, cochez cette étape et poursuivez à votre rythme.</a:t>
            </a:r>
          </a:p>
          <a:p xmlns:a="http://schemas.openxmlformats.org/drawingml/2006/main">
            <a:r>
              <a:t/>
            </a:r>
          </a:p>
          <a:p xmlns:a="http://schemas.openxmlformats.org/drawingml/2006/main">
            <a:r>
              <a:t>## Vérification de compréhension</a:t>
            </a:r>
          </a:p>
          <a:p xmlns:a="http://schemas.openxmlformats.org/drawingml/2006/main">
            <a:r>
              <a:t>- Si l’élève dit « j’ai une grosse maison donc je peux donner », réponse : valeur et disponibilité ne sont pas identiques ; examiner ses besoins avant un projet.</a:t>
            </a:r>
          </a:p>
          <a:p xmlns:a="http://schemas.openxmlformats.org/drawingml/2006/main">
            <a:r>
              <a:t>- S’il ne sait pas son régime matrimonial : rechercher l’acte, ne pas deviner.</a:t>
            </a:r>
          </a:p>
          <a:p xmlns:a="http://schemas.openxmlformats.org/drawingml/2006/main">
            <a:r>
              <a:t>- Fin attendue : une priorité + une pièce à retrouver + une question. Aucun résultat financier.</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V1-02 — Espace à droite réservé au présentateur.</a:t>
            </a:r>
          </a:p>
          <a:p xmlns:a="http://schemas.openxmlformats.org/drawingml/2006/main">
            <a:r>
              <a:t># V1 — Ma première fiche</a:t>
            </a:r>
          </a:p>
          <a:p xmlns:a="http://schemas.openxmlformats.org/drawingml/2006/main">
            <a:r>
              <a:t>Durée cible : 4 minutes avec pauses. 3 fonds V1-01 à V1-03. Film : plan poitrine à droite, feuille réelle sur table ; pas de capture d’un espace non finalisé. Le texte ci-dessous est à dire. Les indications entre crochets ne sont pas à lire.</a:t>
            </a:r>
          </a:p>
          <a:p xmlns:a="http://schemas.openxmlformats.org/drawingml/2006/main">
            <a:r>
              <a:t/>
            </a:r>
          </a:p>
          <a:p xmlns:a="http://schemas.openxmlformats.org/drawingml/2006/main">
            <a:r>
              <a:t>## Ce que tu dois comprendre avant de filmer</a:t>
            </a:r>
          </a:p>
          <a:p xmlns:a="http://schemas.openxmlformats.org/drawingml/2006/main">
            <a:r>
              <a:t>Le résultat n’est pas une optimisation : c’est une situation lisible. « Je ne sais pas » est une information utile. Une priorité n’est pas une opération juridique. La sécurité du parent passe avant le montant transmis.</a:t>
            </a:r>
          </a:p>
          <a:p xmlns:a="http://schemas.openxmlformats.org/drawingml/2006/main">
            <a:r>
              <a:t>Tu dois pouvoir expliquer en une phrase pourquoi la maison et l’argent disponible ne sont pas interchangeables.</a:t>
            </a:r>
          </a:p>
          <a:p xmlns:a="http://schemas.openxmlformats.org/drawingml/2006/main">
            <a:r>
              <a:t>N’annonce ni délai de résultat fiscal, ni chiffre personnel, ni prix d’un futur pack.</a:t>
            </a:r>
          </a:p>
          <a:p xmlns:a="http://schemas.openxmlformats.org/drawingml/2006/main">
            <a:r>
              <a:t/>
            </a:r>
          </a:p>
          <a:p xmlns:a="http://schemas.openxmlformats.org/drawingml/2006/main">
            <a:r>
              <a:t>## Texte parlé</a:t>
            </a:r>
          </a:p>
          <a:p xmlns:a="http://schemas.openxmlformats.org/drawingml/2006/main">
            <a:r>
              <a:t>[Fond V1-01 — Une fiche pour commencer]</a:t>
            </a:r>
          </a:p>
          <a:p xmlns:a="http://schemas.openxmlformats.org/drawingml/2006/main">
            <a:r>
              <a:t/>
            </a:r>
          </a:p>
          <a:p xmlns:a="http://schemas.openxmlformats.org/drawingml/2006/main">
            <a:r>
              <a:t>Bienvenue. Vous avez peut-être plusieurs questions en tête : la maison, les enfants, le conjoint, les papiers à retrouver. Nous allons commencer beaucoup plus simplement.</a:t>
            </a:r>
          </a:p>
          <a:p xmlns:a="http://schemas.openxmlformats.org/drawingml/2006/main">
            <a:r>
              <a:t/>
            </a:r>
          </a:p>
          <a:p xmlns:a="http://schemas.openxmlformats.org/drawingml/2006/main">
            <a:r>
              <a:t>À la fin de cette première étape, vous aurez trois choses : votre objectif, une information à retrouver et une question à faire vérifier. Rien à signer. Aucun argent à déplacer.</a:t>
            </a:r>
          </a:p>
          <a:p xmlns:a="http://schemas.openxmlformats.org/drawingml/2006/main">
            <a:r>
              <a:t/>
            </a:r>
          </a:p>
          <a:p xmlns:a="http://schemas.openxmlformats.org/drawingml/2006/main">
            <a:r>
              <a:t>Prenez la fiche de situation, ou simplement une feuille blanche. Vous pouvez mettre la vidéo sur pause chaque fois que vous en avez besoin. Tout ce que nous faisons ici est aussi expliqué à l’écrit.</a:t>
            </a:r>
          </a:p>
          <a:p xmlns:a="http://schemas.openxmlformats.org/drawingml/2006/main">
            <a:r>
              <a:t/>
            </a:r>
          </a:p>
          <a:p xmlns:a="http://schemas.openxmlformats.org/drawingml/2006/main">
            <a:r>
              <a:t>En haut de la feuille, écrivez : « Ce que je veux protéger en priorité ». Essayez de répondre avec une phrase concrète. Par exemple : « Je veux que mon conjoint puisse continuer à vivre dans notre logement. » Ou : « Je veux que mes enfants sachent où trouver les documents. »</a:t>
            </a:r>
          </a:p>
          <a:p xmlns:a="http://schemas.openxmlformats.org/drawingml/2006/main">
            <a:r>
              <a:t/>
            </a:r>
          </a:p>
          <a:p xmlns:a="http://schemas.openxmlformats.org/drawingml/2006/main">
            <a:r>
              <a:t>Ce sont deux objectifs différents. C’est important : on ne prépare pas la même discussion selon ce que l’on souhaite vraiment protéger.</a:t>
            </a:r>
          </a:p>
          <a:p xmlns:a="http://schemas.openxmlformats.org/drawingml/2006/main">
            <a:r>
              <a:t/>
            </a:r>
          </a:p>
          <a:p xmlns:a="http://schemas.openxmlformats.org/drawingml/2006/main">
            <a:r>
              <a:t>[Fond V1-02 — Ce que je sais / Ce qui manque / Ma question]</a:t>
            </a:r>
          </a:p>
          <a:p xmlns:a="http://schemas.openxmlformats.org/drawingml/2006/main">
            <a:r>
              <a:t/>
            </a:r>
          </a:p>
          <a:p xmlns:a="http://schemas.openxmlformats.org/drawingml/2006/main">
            <a:r>
              <a:t>Dessinez maintenant trois colonnes. Dans la première, ce que vous savez. Dans la deuxième, ce qui vous manque. Dans la troisième, votre question.</a:t>
            </a:r>
          </a:p>
          <a:p xmlns:a="http://schemas.openxmlformats.org/drawingml/2006/main">
            <a:r>
              <a:t/>
            </a:r>
          </a:p>
          <a:p xmlns:a="http://schemas.openxmlformats.org/drawingml/2006/main">
            <a:r>
              <a:t>Prenons un exemple fictif. Claire écrit : « Nous vivons dans une maison achetée ensemble. » Elle pense connaître sa valeur, mais elle ne sait pas exactement ce que dit l’acte de propriété. Dans la deuxième colonne, elle note donc : « Retrouver le titre et notre contrat de mariage. »</a:t>
            </a:r>
          </a:p>
          <a:p xmlns:a="http://schemas.openxmlformats.org/drawingml/2006/main">
            <a:r>
              <a:t/>
            </a:r>
          </a:p>
          <a:p xmlns:a="http://schemas.openxmlformats.org/drawingml/2006/main">
            <a:r>
              <a:t>Sa question devient : « Qu’est-ce qui appartient aujourd’hui à chacun de nous, et que se passerait-il au premier décès ? »</a:t>
            </a:r>
          </a:p>
          <a:p xmlns:a="http://schemas.openxmlformats.org/drawingml/2006/main">
            <a:r>
              <a:t/>
            </a:r>
          </a:p>
          <a:p xmlns:a="http://schemas.openxmlformats.org/drawingml/2006/main">
            <a:r>
              <a:t>Vous voyez la différence ? Elle n’a pas choisi une solution. Elle a préparé une question précise à laquelle son notaire pourra répondre avec les documents.</a:t>
            </a:r>
          </a:p>
          <a:p xmlns:a="http://schemas.openxmlformats.org/drawingml/2006/main">
            <a:r>
              <a:t/>
            </a:r>
          </a:p>
          <a:p xmlns:a="http://schemas.openxmlformats.org/drawingml/2006/main">
            <a:r>
              <a:t>Si vous ne connaissez pas une information, écrivez « à vérifier ». Ne mettez pas zéro dans une case parce que vous ne savez pas. Zéro veut dire qu’il n’y a rien ; « à vérifier » veut dire que nous n’avons pas encore la réponse.</a:t>
            </a:r>
          </a:p>
          <a:p xmlns:a="http://schemas.openxmlformats.org/drawingml/2006/main">
            <a:r>
              <a:t/>
            </a:r>
          </a:p>
          <a:p xmlns:a="http://schemas.openxmlformats.org/drawingml/2006/main">
            <a:r>
              <a:t>[Fond V1-03 — Ma sécurité d’abord]</a:t>
            </a:r>
          </a:p>
          <a:p xmlns:a="http://schemas.openxmlformats.org/drawingml/2006/main">
            <a:r>
              <a:t/>
            </a:r>
          </a:p>
          <a:p xmlns:a="http://schemas.openxmlformats.org/drawingml/2006/main">
            <a:r>
              <a:t>Avant d’aller plus loin, posez-vous une autre question : de quoi avez-vous besoin pour vivre tranquillement ? Vos dépenses, votre logement, vos projets, les imprévus.</a:t>
            </a:r>
          </a:p>
          <a:p xmlns:a="http://schemas.openxmlformats.org/drawingml/2006/main">
            <a:r>
              <a:t/>
            </a:r>
          </a:p>
          <a:p xmlns:a="http://schemas.openxmlformats.org/drawingml/2006/main">
            <a:r>
              <a:t>Une maison peut avoir une valeur importante sans vous donner de l’argent disponible chaque mois. Et une donation transfère réellement des droits. Il ne faut donc pas décider de donner à partir d’un chiffre isolé.</a:t>
            </a:r>
          </a:p>
          <a:p xmlns:a="http://schemas.openxmlformats.org/drawingml/2006/main">
            <a:r>
              <a:t/>
            </a:r>
          </a:p>
          <a:p xmlns:a="http://schemas.openxmlformats.org/drawingml/2006/main">
            <a:r>
              <a:t>Nous reviendrons sur ces distinctions dans le parcours. Pour aujourd’hui, choisissez une seule action réalisable : retrouver un acte, demander un relevé ou noter votre question.</a:t>
            </a:r>
          </a:p>
          <a:p xmlns:a="http://schemas.openxmlformats.org/drawingml/2006/main">
            <a:r>
              <a:t/>
            </a:r>
          </a:p>
          <a:p xmlns:a="http://schemas.openxmlformats.org/drawingml/2006/main">
            <a:r>
              <a:t>Vous pouvez vous arrêter là. Une fiche claire vaut mieux que dix documents remplis sans comprendre. Quand vous êtes prêt, cochez cette étape et poursuivez à votre rythme.</a:t>
            </a:r>
          </a:p>
          <a:p xmlns:a="http://schemas.openxmlformats.org/drawingml/2006/main">
            <a:r>
              <a:t/>
            </a:r>
          </a:p>
          <a:p xmlns:a="http://schemas.openxmlformats.org/drawingml/2006/main">
            <a:r>
              <a:t>## Vérification de compréhension</a:t>
            </a:r>
          </a:p>
          <a:p xmlns:a="http://schemas.openxmlformats.org/drawingml/2006/main">
            <a:r>
              <a:t>- Si l’élève dit « j’ai une grosse maison donc je peux donner », réponse : valeur et disponibilité ne sont pas identiques ; examiner ses besoins avant un projet.</a:t>
            </a:r>
          </a:p>
          <a:p xmlns:a="http://schemas.openxmlformats.org/drawingml/2006/main">
            <a:r>
              <a:t>- S’il ne sait pas son régime matrimonial : rechercher l’acte, ne pas deviner.</a:t>
            </a:r>
          </a:p>
          <a:p xmlns:a="http://schemas.openxmlformats.org/drawingml/2006/main">
            <a:r>
              <a:t>- Fin attendue : une priorité + une pièce à retrouver + une question. Aucun résultat financier.</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V1-03 — Espace à droite réservé au présentateur.</a:t>
            </a:r>
          </a:p>
          <a:p xmlns:a="http://schemas.openxmlformats.org/drawingml/2006/main">
            <a:r>
              <a:t># V1 — Ma première fiche</a:t>
            </a:r>
          </a:p>
          <a:p xmlns:a="http://schemas.openxmlformats.org/drawingml/2006/main">
            <a:r>
              <a:t>Durée cible : 4 minutes avec pauses. 3 fonds V1-01 à V1-03. Film : plan poitrine à droite, feuille réelle sur table ; pas de capture d’un espace non finalisé. Le texte ci-dessous est à dire. Les indications entre crochets ne sont pas à lire.</a:t>
            </a:r>
          </a:p>
          <a:p xmlns:a="http://schemas.openxmlformats.org/drawingml/2006/main">
            <a:r>
              <a:t/>
            </a:r>
          </a:p>
          <a:p xmlns:a="http://schemas.openxmlformats.org/drawingml/2006/main">
            <a:r>
              <a:t>## Ce que tu dois comprendre avant de filmer</a:t>
            </a:r>
          </a:p>
          <a:p xmlns:a="http://schemas.openxmlformats.org/drawingml/2006/main">
            <a:r>
              <a:t>Le résultat n’est pas une optimisation : c’est une situation lisible. « Je ne sais pas » est une information utile. Une priorité n’est pas une opération juridique. La sécurité du parent passe avant le montant transmis.</a:t>
            </a:r>
          </a:p>
          <a:p xmlns:a="http://schemas.openxmlformats.org/drawingml/2006/main">
            <a:r>
              <a:t>Tu dois pouvoir expliquer en une phrase pourquoi la maison et l’argent disponible ne sont pas interchangeables.</a:t>
            </a:r>
          </a:p>
          <a:p xmlns:a="http://schemas.openxmlformats.org/drawingml/2006/main">
            <a:r>
              <a:t>N’annonce ni délai de résultat fiscal, ni chiffre personnel, ni prix d’un futur pack.</a:t>
            </a:r>
          </a:p>
          <a:p xmlns:a="http://schemas.openxmlformats.org/drawingml/2006/main">
            <a:r>
              <a:t/>
            </a:r>
          </a:p>
          <a:p xmlns:a="http://schemas.openxmlformats.org/drawingml/2006/main">
            <a:r>
              <a:t>## Texte parlé</a:t>
            </a:r>
          </a:p>
          <a:p xmlns:a="http://schemas.openxmlformats.org/drawingml/2006/main">
            <a:r>
              <a:t>[Fond V1-01 — Une fiche pour commencer]</a:t>
            </a:r>
          </a:p>
          <a:p xmlns:a="http://schemas.openxmlformats.org/drawingml/2006/main">
            <a:r>
              <a:t/>
            </a:r>
          </a:p>
          <a:p xmlns:a="http://schemas.openxmlformats.org/drawingml/2006/main">
            <a:r>
              <a:t>Bienvenue. Vous avez peut-être plusieurs questions en tête : la maison, les enfants, le conjoint, les papiers à retrouver. Nous allons commencer beaucoup plus simplement.</a:t>
            </a:r>
          </a:p>
          <a:p xmlns:a="http://schemas.openxmlformats.org/drawingml/2006/main">
            <a:r>
              <a:t/>
            </a:r>
          </a:p>
          <a:p xmlns:a="http://schemas.openxmlformats.org/drawingml/2006/main">
            <a:r>
              <a:t>À la fin de cette première étape, vous aurez trois choses : votre objectif, une information à retrouver et une question à faire vérifier. Rien à signer. Aucun argent à déplacer.</a:t>
            </a:r>
          </a:p>
          <a:p xmlns:a="http://schemas.openxmlformats.org/drawingml/2006/main">
            <a:r>
              <a:t/>
            </a:r>
          </a:p>
          <a:p xmlns:a="http://schemas.openxmlformats.org/drawingml/2006/main">
            <a:r>
              <a:t>Prenez la fiche de situation, ou simplement une feuille blanche. Vous pouvez mettre la vidéo sur pause chaque fois que vous en avez besoin. Tout ce que nous faisons ici est aussi expliqué à l’écrit.</a:t>
            </a:r>
          </a:p>
          <a:p xmlns:a="http://schemas.openxmlformats.org/drawingml/2006/main">
            <a:r>
              <a:t/>
            </a:r>
          </a:p>
          <a:p xmlns:a="http://schemas.openxmlformats.org/drawingml/2006/main">
            <a:r>
              <a:t>En haut de la feuille, écrivez : « Ce que je veux protéger en priorité ». Essayez de répondre avec une phrase concrète. Par exemple : « Je veux que mon conjoint puisse continuer à vivre dans notre logement. » Ou : « Je veux que mes enfants sachent où trouver les documents. »</a:t>
            </a:r>
          </a:p>
          <a:p xmlns:a="http://schemas.openxmlformats.org/drawingml/2006/main">
            <a:r>
              <a:t/>
            </a:r>
          </a:p>
          <a:p xmlns:a="http://schemas.openxmlformats.org/drawingml/2006/main">
            <a:r>
              <a:t>Ce sont deux objectifs différents. C’est important : on ne prépare pas la même discussion selon ce que l’on souhaite vraiment protéger.</a:t>
            </a:r>
          </a:p>
          <a:p xmlns:a="http://schemas.openxmlformats.org/drawingml/2006/main">
            <a:r>
              <a:t/>
            </a:r>
          </a:p>
          <a:p xmlns:a="http://schemas.openxmlformats.org/drawingml/2006/main">
            <a:r>
              <a:t>[Fond V1-02 — Ce que je sais / Ce qui manque / Ma question]</a:t>
            </a:r>
          </a:p>
          <a:p xmlns:a="http://schemas.openxmlformats.org/drawingml/2006/main">
            <a:r>
              <a:t/>
            </a:r>
          </a:p>
          <a:p xmlns:a="http://schemas.openxmlformats.org/drawingml/2006/main">
            <a:r>
              <a:t>Dessinez maintenant trois colonnes. Dans la première, ce que vous savez. Dans la deuxième, ce qui vous manque. Dans la troisième, votre question.</a:t>
            </a:r>
          </a:p>
          <a:p xmlns:a="http://schemas.openxmlformats.org/drawingml/2006/main">
            <a:r>
              <a:t/>
            </a:r>
          </a:p>
          <a:p xmlns:a="http://schemas.openxmlformats.org/drawingml/2006/main">
            <a:r>
              <a:t>Prenons un exemple fictif. Claire écrit : « Nous vivons dans une maison achetée ensemble. » Elle pense connaître sa valeur, mais elle ne sait pas exactement ce que dit l’acte de propriété. Dans la deuxième colonne, elle note donc : « Retrouver le titre et notre contrat de mariage. »</a:t>
            </a:r>
          </a:p>
          <a:p xmlns:a="http://schemas.openxmlformats.org/drawingml/2006/main">
            <a:r>
              <a:t/>
            </a:r>
          </a:p>
          <a:p xmlns:a="http://schemas.openxmlformats.org/drawingml/2006/main">
            <a:r>
              <a:t>Sa question devient : « Qu’est-ce qui appartient aujourd’hui à chacun de nous, et que se passerait-il au premier décès ? »</a:t>
            </a:r>
          </a:p>
          <a:p xmlns:a="http://schemas.openxmlformats.org/drawingml/2006/main">
            <a:r>
              <a:t/>
            </a:r>
          </a:p>
          <a:p xmlns:a="http://schemas.openxmlformats.org/drawingml/2006/main">
            <a:r>
              <a:t>Vous voyez la différence ? Elle n’a pas choisi une solution. Elle a préparé une question précise à laquelle son notaire pourra répondre avec les documents.</a:t>
            </a:r>
          </a:p>
          <a:p xmlns:a="http://schemas.openxmlformats.org/drawingml/2006/main">
            <a:r>
              <a:t/>
            </a:r>
          </a:p>
          <a:p xmlns:a="http://schemas.openxmlformats.org/drawingml/2006/main">
            <a:r>
              <a:t>Si vous ne connaissez pas une information, écrivez « à vérifier ». Ne mettez pas zéro dans une case parce que vous ne savez pas. Zéro veut dire qu’il n’y a rien ; « à vérifier » veut dire que nous n’avons pas encore la réponse.</a:t>
            </a:r>
          </a:p>
          <a:p xmlns:a="http://schemas.openxmlformats.org/drawingml/2006/main">
            <a:r>
              <a:t/>
            </a:r>
          </a:p>
          <a:p xmlns:a="http://schemas.openxmlformats.org/drawingml/2006/main">
            <a:r>
              <a:t>[Fond V1-03 — Ma sécurité d’abord]</a:t>
            </a:r>
          </a:p>
          <a:p xmlns:a="http://schemas.openxmlformats.org/drawingml/2006/main">
            <a:r>
              <a:t/>
            </a:r>
          </a:p>
          <a:p xmlns:a="http://schemas.openxmlformats.org/drawingml/2006/main">
            <a:r>
              <a:t>Avant d’aller plus loin, posez-vous une autre question : de quoi avez-vous besoin pour vivre tranquillement ? Vos dépenses, votre logement, vos projets, les imprévus.</a:t>
            </a:r>
          </a:p>
          <a:p xmlns:a="http://schemas.openxmlformats.org/drawingml/2006/main">
            <a:r>
              <a:t/>
            </a:r>
          </a:p>
          <a:p xmlns:a="http://schemas.openxmlformats.org/drawingml/2006/main">
            <a:r>
              <a:t>Une maison peut avoir une valeur importante sans vous donner de l’argent disponible chaque mois. Et une donation transfère réellement des droits. Il ne faut donc pas décider de donner à partir d’un chiffre isolé.</a:t>
            </a:r>
          </a:p>
          <a:p xmlns:a="http://schemas.openxmlformats.org/drawingml/2006/main">
            <a:r>
              <a:t/>
            </a:r>
          </a:p>
          <a:p xmlns:a="http://schemas.openxmlformats.org/drawingml/2006/main">
            <a:r>
              <a:t>Nous reviendrons sur ces distinctions dans le parcours. Pour aujourd’hui, choisissez une seule action réalisable : retrouver un acte, demander un relevé ou noter votre question.</a:t>
            </a:r>
          </a:p>
          <a:p xmlns:a="http://schemas.openxmlformats.org/drawingml/2006/main">
            <a:r>
              <a:t/>
            </a:r>
          </a:p>
          <a:p xmlns:a="http://schemas.openxmlformats.org/drawingml/2006/main">
            <a:r>
              <a:t>Vous pouvez vous arrêter là. Une fiche claire vaut mieux que dix documents remplis sans comprendre. Quand vous êtes prêt, cochez cette étape et poursuivez à votre rythme.</a:t>
            </a:r>
          </a:p>
          <a:p xmlns:a="http://schemas.openxmlformats.org/drawingml/2006/main">
            <a:r>
              <a:t/>
            </a:r>
          </a:p>
          <a:p xmlns:a="http://schemas.openxmlformats.org/drawingml/2006/main">
            <a:r>
              <a:t>## Vérification de compréhension</a:t>
            </a:r>
          </a:p>
          <a:p xmlns:a="http://schemas.openxmlformats.org/drawingml/2006/main">
            <a:r>
              <a:t>- Si l’élève dit « j’ai une grosse maison donc je peux donner », réponse : valeur et disponibilité ne sont pas identiques ; examiner ses besoins avant un projet.</a:t>
            </a:r>
          </a:p>
          <a:p xmlns:a="http://schemas.openxmlformats.org/drawingml/2006/main">
            <a:r>
              <a:t>- S’il ne sait pas son régime matrimonial : rechercher l’acte, ne pas deviner.</a:t>
            </a:r>
          </a:p>
          <a:p xmlns:a="http://schemas.openxmlformats.org/drawingml/2006/main">
            <a:r>
              <a:t>- Fin attendue : une priorité + une pièce à retrouver + une question. Aucun résultat financier.</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V2-01 — Espace à droite réservé au présentateur.</a:t>
            </a:r>
          </a:p>
          <a:p xmlns:a="http://schemas.openxmlformats.org/drawingml/2006/main">
            <a:r>
              <a:t># V2 — Propriété, transmission et fiscalité</a:t>
            </a:r>
          </a:p>
          <a:p xmlns:a="http://schemas.openxmlformats.org/drawingml/2006/main">
            <a:r>
              <a:t>Durée cible : 5–6 minutes avec pauses et dessin sur feuille. Fonds V2-01 à V2-04.</a:t>
            </a:r>
          </a:p>
          <a:p xmlns:a="http://schemas.openxmlformats.org/drawingml/2006/main">
            <a:r>
              <a:t>Objectif : éliminer la confusion qui faussait l’ancien simulateur. Ne pas improviser une liquidation matrimoniale à l’écran.</a:t>
            </a:r>
          </a:p>
          <a:p xmlns:a="http://schemas.openxmlformats.org/drawingml/2006/main">
            <a:r>
              <a:t/>
            </a:r>
          </a:p>
          <a:p xmlns:a="http://schemas.openxmlformats.org/drawingml/2006/main">
            <a:r>
              <a:t>## Avant de tourner</a:t>
            </a:r>
          </a:p>
          <a:p xmlns:a="http://schemas.openxmlformats.org/drawingml/2006/main">
            <a:r>
              <a:t>La propriété actuelle répond à « à qui appartient quoi ? ». La dévolution civile répond à « qui reçoit quels droits ? ». La fiscalité intervient ensuite.</a:t>
            </a:r>
          </a:p>
          <a:p xmlns:a="http://schemas.openxmlformats.org/drawingml/2006/main">
            <a:r>
              <a:t>L’exonération du conjoint ne lui attribue pas toute la succession. Un PACS ne crée pas les mêmes droits successoraux qu’un mariage. L’usufruit n’est pas la pleine propriété.</a:t>
            </a:r>
          </a:p>
          <a:p xmlns:a="http://schemas.openxmlformats.org/drawingml/2006/main">
            <a:r>
              <a:t>Les pourcentages de nue-propriété sont une valeur fiscale d’un droit, pas un taux d’impôt, ni la part physique de maison donnée.</a:t>
            </a:r>
          </a:p>
          <a:p xmlns:a="http://schemas.openxmlformats.org/drawingml/2006/main">
            <a:r>
              <a:t/>
            </a:r>
          </a:p>
          <a:p xmlns:a="http://schemas.openxmlformats.org/drawingml/2006/main">
            <a:r>
              <a:t>## Texte parlé</a:t>
            </a:r>
          </a:p>
          <a:p xmlns:a="http://schemas.openxmlformats.org/drawingml/2006/main">
            <a:r>
              <a:t>[Fond V2-01 — Trois questions différentes]</a:t>
            </a:r>
          </a:p>
          <a:p xmlns:a="http://schemas.openxmlformats.org/drawingml/2006/main">
            <a:r>
              <a:t/>
            </a:r>
          </a:p>
          <a:p xmlns:a="http://schemas.openxmlformats.org/drawingml/2006/main">
            <a:r>
              <a:t>Dans cette vidéo, nous allons séparer trois questions. C’est l’une des distinctions les plus utiles de toute la méthode.</a:t>
            </a:r>
          </a:p>
          <a:p xmlns:a="http://schemas.openxmlformats.org/drawingml/2006/main">
            <a:r>
              <a:t/>
            </a:r>
          </a:p>
          <a:p xmlns:a="http://schemas.openxmlformats.org/drawingml/2006/main">
            <a:r>
              <a:t>Première question : à qui appartient quoi aujourd’hui ?</a:t>
            </a:r>
          </a:p>
          <a:p xmlns:a="http://schemas.openxmlformats.org/drawingml/2006/main">
            <a:r>
              <a:t>Deuxième question : qui recevrait quels droits lors d’une transmission ?</a:t>
            </a:r>
          </a:p>
          <a:p xmlns:a="http://schemas.openxmlformats.org/drawingml/2006/main">
            <a:r>
              <a:t>Troisième question : comment ces droits seraient-ils taxés ?</a:t>
            </a:r>
          </a:p>
          <a:p xmlns:a="http://schemas.openxmlformats.org/drawingml/2006/main">
            <a:r>
              <a:t/>
            </a:r>
          </a:p>
          <a:p xmlns:a="http://schemas.openxmlformats.org/drawingml/2006/main">
            <a:r>
              <a:t>Si l’on commence directement par l’impôt, on risque de calculer très précisément… sur la mauvaise somme.</a:t>
            </a:r>
          </a:p>
          <a:p xmlns:a="http://schemas.openxmlformats.org/drawingml/2006/main">
            <a:r>
              <a:t/>
            </a:r>
          </a:p>
          <a:p xmlns:a="http://schemas.openxmlformats.org/drawingml/2006/main">
            <a:r>
              <a:t>Prenons un exemple fictif très simple. Deux personnes possèdent une maison de quatre cent mille euros, chacune pour moitié. Nous supposons que ce partage est confirmé par leurs actes.</a:t>
            </a:r>
          </a:p>
          <a:p xmlns:a="http://schemas.openxmlformats.org/drawingml/2006/main">
            <a:r>
              <a:t/>
            </a:r>
          </a:p>
          <a:p xmlns:a="http://schemas.openxmlformats.org/drawingml/2006/main">
            <a:r>
              <a:t>Cela ne veut pas dire que quatre cent mille euros entreraient dans la succession de la première personne qui décède. L’autre possède déjà sa propre part. Et cela ne nous dit pas encore ce que le conjoint ou les enfants recevraient dans la succession.</a:t>
            </a:r>
          </a:p>
          <a:p xmlns:a="http://schemas.openxmlformats.org/drawingml/2006/main">
            <a:r>
              <a:t/>
            </a:r>
          </a:p>
          <a:p xmlns:a="http://schemas.openxmlformats.org/drawingml/2006/main">
            <a:r>
              <a:t>Je ne vous demande pas de déterminer vous-même tous ces droits. Je vous demande de comprendre pourquoi l’acte de propriété et la situation familiale viennent avant le calcul.</a:t>
            </a:r>
          </a:p>
          <a:p xmlns:a="http://schemas.openxmlformats.org/drawingml/2006/main">
            <a:r>
              <a:t/>
            </a:r>
          </a:p>
          <a:p xmlns:a="http://schemas.openxmlformats.org/drawingml/2006/main">
            <a:r>
              <a:t>[Fond V2-02 — Exonéré ne veut pas dire seul héritier]</a:t>
            </a:r>
          </a:p>
          <a:p xmlns:a="http://schemas.openxmlformats.org/drawingml/2006/main">
            <a:r>
              <a:t/>
            </a:r>
          </a:p>
          <a:p xmlns:a="http://schemas.openxmlformats.org/drawingml/2006/main">
            <a:r>
              <a:t>Une phrase crée souvent une confusion : « Le conjoint est exonéré de droits de succession. »</a:t>
            </a:r>
          </a:p>
          <a:p xmlns:a="http://schemas.openxmlformats.org/drawingml/2006/main">
            <a:r>
              <a:t/>
            </a:r>
          </a:p>
          <a:p xmlns:a="http://schemas.openxmlformats.org/drawingml/2006/main">
            <a:r>
              <a:t>Cette phrase parle de fiscalité. Elle ne signifie pas que le conjoint hérite automatiquement de tout en pleine propriété. Les droits du conjoint et ceux des enfants dépendent notamment de la famille et des dispositions existantes.</a:t>
            </a:r>
          </a:p>
          <a:p xmlns:a="http://schemas.openxmlformats.org/drawingml/2006/main">
            <a:r>
              <a:t/>
            </a:r>
          </a:p>
          <a:p xmlns:a="http://schemas.openxmlformats.org/drawingml/2006/main">
            <a:r>
              <a:t>Il ne faut donc pas partir du principe que tout se regroupe toujours sur une seule personne, puis appliquer un seul abattement au décès suivant. Les deux successions doivent être examinées séparément.</a:t>
            </a:r>
          </a:p>
          <a:p xmlns:a="http://schemas.openxmlformats.org/drawingml/2006/main">
            <a:r>
              <a:t/>
            </a:r>
          </a:p>
          <a:p xmlns:a="http://schemas.openxmlformats.org/drawingml/2006/main">
            <a:r>
              <a:t>Même prudence pour un couple pacsé. Le régime fiscal du partenaire et son droit à hériter sont deux questions distinctes. Si c’est votre situation, demandez quelles protections existent réellement dans vos documents.</a:t>
            </a:r>
          </a:p>
          <a:p xmlns:a="http://schemas.openxmlformats.org/drawingml/2006/main">
            <a:r>
              <a:t/>
            </a:r>
          </a:p>
          <a:p xmlns:a="http://schemas.openxmlformats.org/drawingml/2006/main">
            <a:r>
              <a:t>[Fond V2-03 — Usage, revenus et propriété]</a:t>
            </a:r>
          </a:p>
          <a:p xmlns:a="http://schemas.openxmlformats.org/drawingml/2006/main">
            <a:r>
              <a:t/>
            </a:r>
          </a:p>
          <a:p xmlns:a="http://schemas.openxmlformats.org/drawingml/2006/main">
            <a:r>
              <a:t>Il reste une distinction à comprendre : l’usufruit et la nue-propriété.</a:t>
            </a:r>
          </a:p>
          <a:p xmlns:a="http://schemas.openxmlformats.org/drawingml/2006/main">
            <a:r>
              <a:t/>
            </a:r>
          </a:p>
          <a:p xmlns:a="http://schemas.openxmlformats.org/drawingml/2006/main">
            <a:r>
              <a:t>Imaginez que le droit d’utiliser un bien et d’en percevoir les revenus soit séparé du reste de la propriété. L’usufruitier peut notamment occuper le logement ou en percevoir les loyers dans le cadre de ses droits. Le nu-propriétaire détient la nue-propriété.</a:t>
            </a:r>
          </a:p>
          <a:p xmlns:a="http://schemas.openxmlformats.org/drawingml/2006/main">
            <a:r>
              <a:t/>
            </a:r>
          </a:p>
          <a:p xmlns:a="http://schemas.openxmlformats.org/drawingml/2006/main">
            <a:r>
              <a:t>Mais garder l’usufruit ne revient pas à garder tous les pouvoirs d’un plein propriétaire. Une vente de la pleine propriété, des travaux ou un besoin de liquidité soulèvent des questions à organiser.</a:t>
            </a:r>
          </a:p>
          <a:p xmlns:a="http://schemas.openxmlformats.org/drawingml/2006/main">
            <a:r>
              <a:t/>
            </a:r>
          </a:p>
          <a:p xmlns:a="http://schemas.openxmlformats.org/drawingml/2006/main">
            <a:r>
              <a:t>C’est pourquoi je n’emploie pas la formule « donner sans se déposséder ». On transmet bien un droit. La bonne question est : « Qu’est-ce que je garde, qu’est-ce que je donne, et quelles contraintes cela crée-t-il ? »</a:t>
            </a:r>
          </a:p>
          <a:p xmlns:a="http://schemas.openxmlformats.org/drawingml/2006/main">
            <a:r>
              <a:t/>
            </a:r>
          </a:p>
          <a:p xmlns:a="http://schemas.openxmlformats.org/drawingml/2006/main">
            <a:r>
              <a:t>[Fond V2-04 — Une valeur fiscale n’est pas un taux d’impôt]</a:t>
            </a:r>
          </a:p>
          <a:p xmlns:a="http://schemas.openxmlformats.org/drawingml/2006/main">
            <a:r>
              <a:t/>
            </a:r>
          </a:p>
          <a:p xmlns:a="http://schemas.openxmlformats.org/drawingml/2006/main">
            <a:r>
              <a:t>Pour un usufruit viager, le barème fiscal dépend de l’âge. Entre soixante et un et soixante-dix ans inclus, la nue-propriété est évaluée à soixante pour cent. Entre soixante et onze et quatre-vingts ans inclus, elle est évaluée à soixante-dix pour cent.</a:t>
            </a:r>
          </a:p>
          <a:p xmlns:a="http://schemas.openxmlformats.org/drawingml/2006/main">
            <a:r>
              <a:t/>
            </a:r>
          </a:p>
          <a:p xmlns:a="http://schemas.openxmlformats.org/drawingml/2006/main">
            <a:r>
              <a:t>Cela ne signifie pas que l’impôt est de soixante pour cent. Cela signifie qu’une valeur fiscale est retenue pour le droit transmis. Il faut ensuite examiner les abattements, le barème, les donations passées et les frais.</a:t>
            </a:r>
          </a:p>
          <a:p xmlns:a="http://schemas.openxmlformats.org/drawingml/2006/main">
            <a:r>
              <a:t/>
            </a:r>
          </a:p>
          <a:p xmlns:a="http://schemas.openxmlformats.org/drawingml/2006/main">
            <a:r>
              <a:t>Un anniversaire peut donc être un repère à discuter. Il ne prouve pas que vous devez signer une donation.</a:t>
            </a:r>
          </a:p>
          <a:p xmlns:a="http://schemas.openxmlformats.org/drawingml/2006/main">
            <a:r>
              <a:t/>
            </a:r>
          </a:p>
          <a:p xmlns:a="http://schemas.openxmlformats.org/drawingml/2006/main">
            <a:r>
              <a:t>Pour terminer, reprenez votre fiche et écrivez trois questions : « À qui appartient quoi ? Qui recevrait quels droits ? Sur quelle base ferait-on le calcul ? »</a:t>
            </a:r>
          </a:p>
          <a:p xmlns:a="http://schemas.openxmlformats.org/drawingml/2006/main">
            <a:r>
              <a:t/>
            </a:r>
          </a:p>
          <a:p xmlns:a="http://schemas.openxmlformats.org/drawingml/2006/main">
            <a:r>
              <a:t>Si vous pouvez distinguer ces trois questions, vous avez déjà évité une grande source de confusion. Votre prochain rendez-vous pourra porter sur votre situation, plutôt que sur un chiffre sorti de son contexte.</a:t>
            </a:r>
          </a:p>
          <a:p xmlns:a="http://schemas.openxmlformats.org/drawingml/2006/main">
            <a:r>
              <a:t/>
            </a:r>
          </a:p>
          <a:p xmlns:a="http://schemas.openxmlformats.org/drawingml/2006/main">
            <a:r>
              <a:t>## Contrôle avant validation du montage</a:t>
            </a:r>
          </a:p>
          <a:p xmlns:a="http://schemas.openxmlformats.org/drawingml/2006/main">
            <a:r>
              <a:t>Le passage à 60 % est impérativement accompagné de « 61 à 70 ans inclus » et « usufruit viager ». Garder la réserve sur la vente et les droits conservés.</a:t>
            </a:r>
          </a:p>
          <a:p xmlns:a="http://schemas.openxmlformats.org/drawingml/2006/main">
            <a:r>
              <a:t>Sources : [héritiers](https://www.service-public.gouv.fr/particuliers/vosdroits/F2529), [usufruit](https://www.service-public.gouv.fr/particuliers/vosdroits/F33076). Vérification professionnelle avant diffusion.</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V2-02 — Espace à droite réservé au présentateur.</a:t>
            </a:r>
          </a:p>
          <a:p xmlns:a="http://schemas.openxmlformats.org/drawingml/2006/main">
            <a:r>
              <a:t># V2 — Propriété, transmission et fiscalité</a:t>
            </a:r>
          </a:p>
          <a:p xmlns:a="http://schemas.openxmlformats.org/drawingml/2006/main">
            <a:r>
              <a:t>Durée cible : 5–6 minutes avec pauses et dessin sur feuille. Fonds V2-01 à V2-04.</a:t>
            </a:r>
          </a:p>
          <a:p xmlns:a="http://schemas.openxmlformats.org/drawingml/2006/main">
            <a:r>
              <a:t>Objectif : éliminer la confusion qui faussait l’ancien simulateur. Ne pas improviser une liquidation matrimoniale à l’écran.</a:t>
            </a:r>
          </a:p>
          <a:p xmlns:a="http://schemas.openxmlformats.org/drawingml/2006/main">
            <a:r>
              <a:t/>
            </a:r>
          </a:p>
          <a:p xmlns:a="http://schemas.openxmlformats.org/drawingml/2006/main">
            <a:r>
              <a:t>## Avant de tourner</a:t>
            </a:r>
          </a:p>
          <a:p xmlns:a="http://schemas.openxmlformats.org/drawingml/2006/main">
            <a:r>
              <a:t>La propriété actuelle répond à « à qui appartient quoi ? ». La dévolution civile répond à « qui reçoit quels droits ? ». La fiscalité intervient ensuite.</a:t>
            </a:r>
          </a:p>
          <a:p xmlns:a="http://schemas.openxmlformats.org/drawingml/2006/main">
            <a:r>
              <a:t>L’exonération du conjoint ne lui attribue pas toute la succession. Un PACS ne crée pas les mêmes droits successoraux qu’un mariage. L’usufruit n’est pas la pleine propriété.</a:t>
            </a:r>
          </a:p>
          <a:p xmlns:a="http://schemas.openxmlformats.org/drawingml/2006/main">
            <a:r>
              <a:t>Les pourcentages de nue-propriété sont une valeur fiscale d’un droit, pas un taux d’impôt, ni la part physique de maison donnée.</a:t>
            </a:r>
          </a:p>
          <a:p xmlns:a="http://schemas.openxmlformats.org/drawingml/2006/main">
            <a:r>
              <a:t/>
            </a:r>
          </a:p>
          <a:p xmlns:a="http://schemas.openxmlformats.org/drawingml/2006/main">
            <a:r>
              <a:t>## Texte parlé</a:t>
            </a:r>
          </a:p>
          <a:p xmlns:a="http://schemas.openxmlformats.org/drawingml/2006/main">
            <a:r>
              <a:t>[Fond V2-01 — Trois questions différentes]</a:t>
            </a:r>
          </a:p>
          <a:p xmlns:a="http://schemas.openxmlformats.org/drawingml/2006/main">
            <a:r>
              <a:t/>
            </a:r>
          </a:p>
          <a:p xmlns:a="http://schemas.openxmlformats.org/drawingml/2006/main">
            <a:r>
              <a:t>Dans cette vidéo, nous allons séparer trois questions. C’est l’une des distinctions les plus utiles de toute la méthode.</a:t>
            </a:r>
          </a:p>
          <a:p xmlns:a="http://schemas.openxmlformats.org/drawingml/2006/main">
            <a:r>
              <a:t/>
            </a:r>
          </a:p>
          <a:p xmlns:a="http://schemas.openxmlformats.org/drawingml/2006/main">
            <a:r>
              <a:t>Première question : à qui appartient quoi aujourd’hui ?</a:t>
            </a:r>
          </a:p>
          <a:p xmlns:a="http://schemas.openxmlformats.org/drawingml/2006/main">
            <a:r>
              <a:t>Deuxième question : qui recevrait quels droits lors d’une transmission ?</a:t>
            </a:r>
          </a:p>
          <a:p xmlns:a="http://schemas.openxmlformats.org/drawingml/2006/main">
            <a:r>
              <a:t>Troisième question : comment ces droits seraient-ils taxés ?</a:t>
            </a:r>
          </a:p>
          <a:p xmlns:a="http://schemas.openxmlformats.org/drawingml/2006/main">
            <a:r>
              <a:t/>
            </a:r>
          </a:p>
          <a:p xmlns:a="http://schemas.openxmlformats.org/drawingml/2006/main">
            <a:r>
              <a:t>Si l’on commence directement par l’impôt, on risque de calculer très précisément… sur la mauvaise somme.</a:t>
            </a:r>
          </a:p>
          <a:p xmlns:a="http://schemas.openxmlformats.org/drawingml/2006/main">
            <a:r>
              <a:t/>
            </a:r>
          </a:p>
          <a:p xmlns:a="http://schemas.openxmlformats.org/drawingml/2006/main">
            <a:r>
              <a:t>Prenons un exemple fictif très simple. Deux personnes possèdent une maison de quatre cent mille euros, chacune pour moitié. Nous supposons que ce partage est confirmé par leurs actes.</a:t>
            </a:r>
          </a:p>
          <a:p xmlns:a="http://schemas.openxmlformats.org/drawingml/2006/main">
            <a:r>
              <a:t/>
            </a:r>
          </a:p>
          <a:p xmlns:a="http://schemas.openxmlformats.org/drawingml/2006/main">
            <a:r>
              <a:t>Cela ne veut pas dire que quatre cent mille euros entreraient dans la succession de la première personne qui décède. L’autre possède déjà sa propre part. Et cela ne nous dit pas encore ce que le conjoint ou les enfants recevraient dans la succession.</a:t>
            </a:r>
          </a:p>
          <a:p xmlns:a="http://schemas.openxmlformats.org/drawingml/2006/main">
            <a:r>
              <a:t/>
            </a:r>
          </a:p>
          <a:p xmlns:a="http://schemas.openxmlformats.org/drawingml/2006/main">
            <a:r>
              <a:t>Je ne vous demande pas de déterminer vous-même tous ces droits. Je vous demande de comprendre pourquoi l’acte de propriété et la situation familiale viennent avant le calcul.</a:t>
            </a:r>
          </a:p>
          <a:p xmlns:a="http://schemas.openxmlformats.org/drawingml/2006/main">
            <a:r>
              <a:t/>
            </a:r>
          </a:p>
          <a:p xmlns:a="http://schemas.openxmlformats.org/drawingml/2006/main">
            <a:r>
              <a:t>[Fond V2-02 — Exonéré ne veut pas dire seul héritier]</a:t>
            </a:r>
          </a:p>
          <a:p xmlns:a="http://schemas.openxmlformats.org/drawingml/2006/main">
            <a:r>
              <a:t/>
            </a:r>
          </a:p>
          <a:p xmlns:a="http://schemas.openxmlformats.org/drawingml/2006/main">
            <a:r>
              <a:t>Une phrase crée souvent une confusion : « Le conjoint est exonéré de droits de succession. »</a:t>
            </a:r>
          </a:p>
          <a:p xmlns:a="http://schemas.openxmlformats.org/drawingml/2006/main">
            <a:r>
              <a:t/>
            </a:r>
          </a:p>
          <a:p xmlns:a="http://schemas.openxmlformats.org/drawingml/2006/main">
            <a:r>
              <a:t>Cette phrase parle de fiscalité. Elle ne signifie pas que le conjoint hérite automatiquement de tout en pleine propriété. Les droits du conjoint et ceux des enfants dépendent notamment de la famille et des dispositions existantes.</a:t>
            </a:r>
          </a:p>
          <a:p xmlns:a="http://schemas.openxmlformats.org/drawingml/2006/main">
            <a:r>
              <a:t/>
            </a:r>
          </a:p>
          <a:p xmlns:a="http://schemas.openxmlformats.org/drawingml/2006/main">
            <a:r>
              <a:t>Il ne faut donc pas partir du principe que tout se regroupe toujours sur une seule personne, puis appliquer un seul abattement au décès suivant. Les deux successions doivent être examinées séparément.</a:t>
            </a:r>
          </a:p>
          <a:p xmlns:a="http://schemas.openxmlformats.org/drawingml/2006/main">
            <a:r>
              <a:t/>
            </a:r>
          </a:p>
          <a:p xmlns:a="http://schemas.openxmlformats.org/drawingml/2006/main">
            <a:r>
              <a:t>Même prudence pour un couple pacsé. Le régime fiscal du partenaire et son droit à hériter sont deux questions distinctes. Si c’est votre situation, demandez quelles protections existent réellement dans vos documents.</a:t>
            </a:r>
          </a:p>
          <a:p xmlns:a="http://schemas.openxmlformats.org/drawingml/2006/main">
            <a:r>
              <a:t/>
            </a:r>
          </a:p>
          <a:p xmlns:a="http://schemas.openxmlformats.org/drawingml/2006/main">
            <a:r>
              <a:t>[Fond V2-03 — Usage, revenus et propriété]</a:t>
            </a:r>
          </a:p>
          <a:p xmlns:a="http://schemas.openxmlformats.org/drawingml/2006/main">
            <a:r>
              <a:t/>
            </a:r>
          </a:p>
          <a:p xmlns:a="http://schemas.openxmlformats.org/drawingml/2006/main">
            <a:r>
              <a:t>Il reste une distinction à comprendre : l’usufruit et la nue-propriété.</a:t>
            </a:r>
          </a:p>
          <a:p xmlns:a="http://schemas.openxmlformats.org/drawingml/2006/main">
            <a:r>
              <a:t/>
            </a:r>
          </a:p>
          <a:p xmlns:a="http://schemas.openxmlformats.org/drawingml/2006/main">
            <a:r>
              <a:t>Imaginez que le droit d’utiliser un bien et d’en percevoir les revenus soit séparé du reste de la propriété. L’usufruitier peut notamment occuper le logement ou en percevoir les loyers dans le cadre de ses droits. Le nu-propriétaire détient la nue-propriété.</a:t>
            </a:r>
          </a:p>
          <a:p xmlns:a="http://schemas.openxmlformats.org/drawingml/2006/main">
            <a:r>
              <a:t/>
            </a:r>
          </a:p>
          <a:p xmlns:a="http://schemas.openxmlformats.org/drawingml/2006/main">
            <a:r>
              <a:t>Mais garder l’usufruit ne revient pas à garder tous les pouvoirs d’un plein propriétaire. Une vente de la pleine propriété, des travaux ou un besoin de liquidité soulèvent des questions à organiser.</a:t>
            </a:r>
          </a:p>
          <a:p xmlns:a="http://schemas.openxmlformats.org/drawingml/2006/main">
            <a:r>
              <a:t/>
            </a:r>
          </a:p>
          <a:p xmlns:a="http://schemas.openxmlformats.org/drawingml/2006/main">
            <a:r>
              <a:t>C’est pourquoi je n’emploie pas la formule « donner sans se déposséder ». On transmet bien un droit. La bonne question est : « Qu’est-ce que je garde, qu’est-ce que je donne, et quelles contraintes cela crée-t-il ? »</a:t>
            </a:r>
          </a:p>
          <a:p xmlns:a="http://schemas.openxmlformats.org/drawingml/2006/main">
            <a:r>
              <a:t/>
            </a:r>
          </a:p>
          <a:p xmlns:a="http://schemas.openxmlformats.org/drawingml/2006/main">
            <a:r>
              <a:t>[Fond V2-04 — Une valeur fiscale n’est pas un taux d’impôt]</a:t>
            </a:r>
          </a:p>
          <a:p xmlns:a="http://schemas.openxmlformats.org/drawingml/2006/main">
            <a:r>
              <a:t/>
            </a:r>
          </a:p>
          <a:p xmlns:a="http://schemas.openxmlformats.org/drawingml/2006/main">
            <a:r>
              <a:t>Pour un usufruit viager, le barème fiscal dépend de l’âge. Entre soixante et un et soixante-dix ans inclus, la nue-propriété est évaluée à soixante pour cent. Entre soixante et onze et quatre-vingts ans inclus, elle est évaluée à soixante-dix pour cent.</a:t>
            </a:r>
          </a:p>
          <a:p xmlns:a="http://schemas.openxmlformats.org/drawingml/2006/main">
            <a:r>
              <a:t/>
            </a:r>
          </a:p>
          <a:p xmlns:a="http://schemas.openxmlformats.org/drawingml/2006/main">
            <a:r>
              <a:t>Cela ne signifie pas que l’impôt est de soixante pour cent. Cela signifie qu’une valeur fiscale est retenue pour le droit transmis. Il faut ensuite examiner les abattements, le barème, les donations passées et les frais.</a:t>
            </a:r>
          </a:p>
          <a:p xmlns:a="http://schemas.openxmlformats.org/drawingml/2006/main">
            <a:r>
              <a:t/>
            </a:r>
          </a:p>
          <a:p xmlns:a="http://schemas.openxmlformats.org/drawingml/2006/main">
            <a:r>
              <a:t>Un anniversaire peut donc être un repère à discuter. Il ne prouve pas que vous devez signer une donation.</a:t>
            </a:r>
          </a:p>
          <a:p xmlns:a="http://schemas.openxmlformats.org/drawingml/2006/main">
            <a:r>
              <a:t/>
            </a:r>
          </a:p>
          <a:p xmlns:a="http://schemas.openxmlformats.org/drawingml/2006/main">
            <a:r>
              <a:t>Pour terminer, reprenez votre fiche et écrivez trois questions : « À qui appartient quoi ? Qui recevrait quels droits ? Sur quelle base ferait-on le calcul ? »</a:t>
            </a:r>
          </a:p>
          <a:p xmlns:a="http://schemas.openxmlformats.org/drawingml/2006/main">
            <a:r>
              <a:t/>
            </a:r>
          </a:p>
          <a:p xmlns:a="http://schemas.openxmlformats.org/drawingml/2006/main">
            <a:r>
              <a:t>Si vous pouvez distinguer ces trois questions, vous avez déjà évité une grande source de confusion. Votre prochain rendez-vous pourra porter sur votre situation, plutôt que sur un chiffre sorti de son contexte.</a:t>
            </a:r>
          </a:p>
          <a:p xmlns:a="http://schemas.openxmlformats.org/drawingml/2006/main">
            <a:r>
              <a:t/>
            </a:r>
          </a:p>
          <a:p xmlns:a="http://schemas.openxmlformats.org/drawingml/2006/main">
            <a:r>
              <a:t>## Contrôle avant validation du montage</a:t>
            </a:r>
          </a:p>
          <a:p xmlns:a="http://schemas.openxmlformats.org/drawingml/2006/main">
            <a:r>
              <a:t>Le passage à 60 % est impérativement accompagné de « 61 à 70 ans inclus » et « usufruit viager ». Garder la réserve sur la vente et les droits conservés.</a:t>
            </a:r>
          </a:p>
          <a:p xmlns:a="http://schemas.openxmlformats.org/drawingml/2006/main">
            <a:r>
              <a:t>Sources : [héritiers](https://www.service-public.gouv.fr/particuliers/vosdroits/F2529), [usufruit](https://www.service-public.gouv.fr/particuliers/vosdroits/F33076). Vérification professionnelle avant diffusion.</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V2-03 — Espace à droite réservé au présentateur.</a:t>
            </a:r>
          </a:p>
          <a:p xmlns:a="http://schemas.openxmlformats.org/drawingml/2006/main">
            <a:r>
              <a:t># V2 — Propriété, transmission et fiscalité</a:t>
            </a:r>
          </a:p>
          <a:p xmlns:a="http://schemas.openxmlformats.org/drawingml/2006/main">
            <a:r>
              <a:t>Durée cible : 5–6 minutes avec pauses et dessin sur feuille. Fonds V2-01 à V2-04.</a:t>
            </a:r>
          </a:p>
          <a:p xmlns:a="http://schemas.openxmlformats.org/drawingml/2006/main">
            <a:r>
              <a:t>Objectif : éliminer la confusion qui faussait l’ancien simulateur. Ne pas improviser une liquidation matrimoniale à l’écran.</a:t>
            </a:r>
          </a:p>
          <a:p xmlns:a="http://schemas.openxmlformats.org/drawingml/2006/main">
            <a:r>
              <a:t/>
            </a:r>
          </a:p>
          <a:p xmlns:a="http://schemas.openxmlformats.org/drawingml/2006/main">
            <a:r>
              <a:t>## Avant de tourner</a:t>
            </a:r>
          </a:p>
          <a:p xmlns:a="http://schemas.openxmlformats.org/drawingml/2006/main">
            <a:r>
              <a:t>La propriété actuelle répond à « à qui appartient quoi ? ». La dévolution civile répond à « qui reçoit quels droits ? ». La fiscalité intervient ensuite.</a:t>
            </a:r>
          </a:p>
          <a:p xmlns:a="http://schemas.openxmlformats.org/drawingml/2006/main">
            <a:r>
              <a:t>L’exonération du conjoint ne lui attribue pas toute la succession. Un PACS ne crée pas les mêmes droits successoraux qu’un mariage. L’usufruit n’est pas la pleine propriété.</a:t>
            </a:r>
          </a:p>
          <a:p xmlns:a="http://schemas.openxmlformats.org/drawingml/2006/main">
            <a:r>
              <a:t>Les pourcentages de nue-propriété sont une valeur fiscale d’un droit, pas un taux d’impôt, ni la part physique de maison donnée.</a:t>
            </a:r>
          </a:p>
          <a:p xmlns:a="http://schemas.openxmlformats.org/drawingml/2006/main">
            <a:r>
              <a:t/>
            </a:r>
          </a:p>
          <a:p xmlns:a="http://schemas.openxmlformats.org/drawingml/2006/main">
            <a:r>
              <a:t>## Texte parlé</a:t>
            </a:r>
          </a:p>
          <a:p xmlns:a="http://schemas.openxmlformats.org/drawingml/2006/main">
            <a:r>
              <a:t>[Fond V2-01 — Trois questions différentes]</a:t>
            </a:r>
          </a:p>
          <a:p xmlns:a="http://schemas.openxmlformats.org/drawingml/2006/main">
            <a:r>
              <a:t/>
            </a:r>
          </a:p>
          <a:p xmlns:a="http://schemas.openxmlformats.org/drawingml/2006/main">
            <a:r>
              <a:t>Dans cette vidéo, nous allons séparer trois questions. C’est l’une des distinctions les plus utiles de toute la méthode.</a:t>
            </a:r>
          </a:p>
          <a:p xmlns:a="http://schemas.openxmlformats.org/drawingml/2006/main">
            <a:r>
              <a:t/>
            </a:r>
          </a:p>
          <a:p xmlns:a="http://schemas.openxmlformats.org/drawingml/2006/main">
            <a:r>
              <a:t>Première question : à qui appartient quoi aujourd’hui ?</a:t>
            </a:r>
          </a:p>
          <a:p xmlns:a="http://schemas.openxmlformats.org/drawingml/2006/main">
            <a:r>
              <a:t>Deuxième question : qui recevrait quels droits lors d’une transmission ?</a:t>
            </a:r>
          </a:p>
          <a:p xmlns:a="http://schemas.openxmlformats.org/drawingml/2006/main">
            <a:r>
              <a:t>Troisième question : comment ces droits seraient-ils taxés ?</a:t>
            </a:r>
          </a:p>
          <a:p xmlns:a="http://schemas.openxmlformats.org/drawingml/2006/main">
            <a:r>
              <a:t/>
            </a:r>
          </a:p>
          <a:p xmlns:a="http://schemas.openxmlformats.org/drawingml/2006/main">
            <a:r>
              <a:t>Si l’on commence directement par l’impôt, on risque de calculer très précisément… sur la mauvaise somme.</a:t>
            </a:r>
          </a:p>
          <a:p xmlns:a="http://schemas.openxmlformats.org/drawingml/2006/main">
            <a:r>
              <a:t/>
            </a:r>
          </a:p>
          <a:p xmlns:a="http://schemas.openxmlformats.org/drawingml/2006/main">
            <a:r>
              <a:t>Prenons un exemple fictif très simple. Deux personnes possèdent une maison de quatre cent mille euros, chacune pour moitié. Nous supposons que ce partage est confirmé par leurs actes.</a:t>
            </a:r>
          </a:p>
          <a:p xmlns:a="http://schemas.openxmlformats.org/drawingml/2006/main">
            <a:r>
              <a:t/>
            </a:r>
          </a:p>
          <a:p xmlns:a="http://schemas.openxmlformats.org/drawingml/2006/main">
            <a:r>
              <a:t>Cela ne veut pas dire que quatre cent mille euros entreraient dans la succession de la première personne qui décède. L’autre possède déjà sa propre part. Et cela ne nous dit pas encore ce que le conjoint ou les enfants recevraient dans la succession.</a:t>
            </a:r>
          </a:p>
          <a:p xmlns:a="http://schemas.openxmlformats.org/drawingml/2006/main">
            <a:r>
              <a:t/>
            </a:r>
          </a:p>
          <a:p xmlns:a="http://schemas.openxmlformats.org/drawingml/2006/main">
            <a:r>
              <a:t>Je ne vous demande pas de déterminer vous-même tous ces droits. Je vous demande de comprendre pourquoi l’acte de propriété et la situation familiale viennent avant le calcul.</a:t>
            </a:r>
          </a:p>
          <a:p xmlns:a="http://schemas.openxmlformats.org/drawingml/2006/main">
            <a:r>
              <a:t/>
            </a:r>
          </a:p>
          <a:p xmlns:a="http://schemas.openxmlformats.org/drawingml/2006/main">
            <a:r>
              <a:t>[Fond V2-02 — Exonéré ne veut pas dire seul héritier]</a:t>
            </a:r>
          </a:p>
          <a:p xmlns:a="http://schemas.openxmlformats.org/drawingml/2006/main">
            <a:r>
              <a:t/>
            </a:r>
          </a:p>
          <a:p xmlns:a="http://schemas.openxmlformats.org/drawingml/2006/main">
            <a:r>
              <a:t>Une phrase crée souvent une confusion : « Le conjoint est exonéré de droits de succession. »</a:t>
            </a:r>
          </a:p>
          <a:p xmlns:a="http://schemas.openxmlformats.org/drawingml/2006/main">
            <a:r>
              <a:t/>
            </a:r>
          </a:p>
          <a:p xmlns:a="http://schemas.openxmlformats.org/drawingml/2006/main">
            <a:r>
              <a:t>Cette phrase parle de fiscalité. Elle ne signifie pas que le conjoint hérite automatiquement de tout en pleine propriété. Les droits du conjoint et ceux des enfants dépendent notamment de la famille et des dispositions existantes.</a:t>
            </a:r>
          </a:p>
          <a:p xmlns:a="http://schemas.openxmlformats.org/drawingml/2006/main">
            <a:r>
              <a:t/>
            </a:r>
          </a:p>
          <a:p xmlns:a="http://schemas.openxmlformats.org/drawingml/2006/main">
            <a:r>
              <a:t>Il ne faut donc pas partir du principe que tout se regroupe toujours sur une seule personne, puis appliquer un seul abattement au décès suivant. Les deux successions doivent être examinées séparément.</a:t>
            </a:r>
          </a:p>
          <a:p xmlns:a="http://schemas.openxmlformats.org/drawingml/2006/main">
            <a:r>
              <a:t/>
            </a:r>
          </a:p>
          <a:p xmlns:a="http://schemas.openxmlformats.org/drawingml/2006/main">
            <a:r>
              <a:t>Même prudence pour un couple pacsé. Le régime fiscal du partenaire et son droit à hériter sont deux questions distinctes. Si c’est votre situation, demandez quelles protections existent réellement dans vos documents.</a:t>
            </a:r>
          </a:p>
          <a:p xmlns:a="http://schemas.openxmlformats.org/drawingml/2006/main">
            <a:r>
              <a:t/>
            </a:r>
          </a:p>
          <a:p xmlns:a="http://schemas.openxmlformats.org/drawingml/2006/main">
            <a:r>
              <a:t>[Fond V2-03 — Usage, revenus et propriété]</a:t>
            </a:r>
          </a:p>
          <a:p xmlns:a="http://schemas.openxmlformats.org/drawingml/2006/main">
            <a:r>
              <a:t/>
            </a:r>
          </a:p>
          <a:p xmlns:a="http://schemas.openxmlformats.org/drawingml/2006/main">
            <a:r>
              <a:t>Il reste une distinction à comprendre : l’usufruit et la nue-propriété.</a:t>
            </a:r>
          </a:p>
          <a:p xmlns:a="http://schemas.openxmlformats.org/drawingml/2006/main">
            <a:r>
              <a:t/>
            </a:r>
          </a:p>
          <a:p xmlns:a="http://schemas.openxmlformats.org/drawingml/2006/main">
            <a:r>
              <a:t>Imaginez que le droit d’utiliser un bien et d’en percevoir les revenus soit séparé du reste de la propriété. L’usufruitier peut notamment occuper le logement ou en percevoir les loyers dans le cadre de ses droits. Le nu-propriétaire détient la nue-propriété.</a:t>
            </a:r>
          </a:p>
          <a:p xmlns:a="http://schemas.openxmlformats.org/drawingml/2006/main">
            <a:r>
              <a:t/>
            </a:r>
          </a:p>
          <a:p xmlns:a="http://schemas.openxmlformats.org/drawingml/2006/main">
            <a:r>
              <a:t>Mais garder l’usufruit ne revient pas à garder tous les pouvoirs d’un plein propriétaire. Une vente de la pleine propriété, des travaux ou un besoin de liquidité soulèvent des questions à organiser.</a:t>
            </a:r>
          </a:p>
          <a:p xmlns:a="http://schemas.openxmlformats.org/drawingml/2006/main">
            <a:r>
              <a:t/>
            </a:r>
          </a:p>
          <a:p xmlns:a="http://schemas.openxmlformats.org/drawingml/2006/main">
            <a:r>
              <a:t>C’est pourquoi je n’emploie pas la formule « donner sans se déposséder ». On transmet bien un droit. La bonne question est : « Qu’est-ce que je garde, qu’est-ce que je donne, et quelles contraintes cela crée-t-il ? »</a:t>
            </a:r>
          </a:p>
          <a:p xmlns:a="http://schemas.openxmlformats.org/drawingml/2006/main">
            <a:r>
              <a:t/>
            </a:r>
          </a:p>
          <a:p xmlns:a="http://schemas.openxmlformats.org/drawingml/2006/main">
            <a:r>
              <a:t>[Fond V2-04 — Une valeur fiscale n’est pas un taux d’impôt]</a:t>
            </a:r>
          </a:p>
          <a:p xmlns:a="http://schemas.openxmlformats.org/drawingml/2006/main">
            <a:r>
              <a:t/>
            </a:r>
          </a:p>
          <a:p xmlns:a="http://schemas.openxmlformats.org/drawingml/2006/main">
            <a:r>
              <a:t>Pour un usufruit viager, le barème fiscal dépend de l’âge. Entre soixante et un et soixante-dix ans inclus, la nue-propriété est évaluée à soixante pour cent. Entre soixante et onze et quatre-vingts ans inclus, elle est évaluée à soixante-dix pour cent.</a:t>
            </a:r>
          </a:p>
          <a:p xmlns:a="http://schemas.openxmlformats.org/drawingml/2006/main">
            <a:r>
              <a:t/>
            </a:r>
          </a:p>
          <a:p xmlns:a="http://schemas.openxmlformats.org/drawingml/2006/main">
            <a:r>
              <a:t>Cela ne signifie pas que l’impôt est de soixante pour cent. Cela signifie qu’une valeur fiscale est retenue pour le droit transmis. Il faut ensuite examiner les abattements, le barème, les donations passées et les frais.</a:t>
            </a:r>
          </a:p>
          <a:p xmlns:a="http://schemas.openxmlformats.org/drawingml/2006/main">
            <a:r>
              <a:t/>
            </a:r>
          </a:p>
          <a:p xmlns:a="http://schemas.openxmlformats.org/drawingml/2006/main">
            <a:r>
              <a:t>Un anniversaire peut donc être un repère à discuter. Il ne prouve pas que vous devez signer une donation.</a:t>
            </a:r>
          </a:p>
          <a:p xmlns:a="http://schemas.openxmlformats.org/drawingml/2006/main">
            <a:r>
              <a:t/>
            </a:r>
          </a:p>
          <a:p xmlns:a="http://schemas.openxmlformats.org/drawingml/2006/main">
            <a:r>
              <a:t>Pour terminer, reprenez votre fiche et écrivez trois questions : « À qui appartient quoi ? Qui recevrait quels droits ? Sur quelle base ferait-on le calcul ? »</a:t>
            </a:r>
          </a:p>
          <a:p xmlns:a="http://schemas.openxmlformats.org/drawingml/2006/main">
            <a:r>
              <a:t/>
            </a:r>
          </a:p>
          <a:p xmlns:a="http://schemas.openxmlformats.org/drawingml/2006/main">
            <a:r>
              <a:t>Si vous pouvez distinguer ces trois questions, vous avez déjà évité une grande source de confusion. Votre prochain rendez-vous pourra porter sur votre situation, plutôt que sur un chiffre sorti de son contexte.</a:t>
            </a:r>
          </a:p>
          <a:p xmlns:a="http://schemas.openxmlformats.org/drawingml/2006/main">
            <a:r>
              <a:t/>
            </a:r>
          </a:p>
          <a:p xmlns:a="http://schemas.openxmlformats.org/drawingml/2006/main">
            <a:r>
              <a:t>## Contrôle avant validation du montage</a:t>
            </a:r>
          </a:p>
          <a:p xmlns:a="http://schemas.openxmlformats.org/drawingml/2006/main">
            <a:r>
              <a:t>Le passage à 60 % est impérativement accompagné de « 61 à 70 ans inclus » et « usufruit viager ». Garder la réserve sur la vente et les droits conservés.</a:t>
            </a:r>
          </a:p>
          <a:p xmlns:a="http://schemas.openxmlformats.org/drawingml/2006/main">
            <a:r>
              <a:t>Sources : [héritiers](https://www.service-public.gouv.fr/particuliers/vosdroits/F2529), [usufruit](https://www.service-public.gouv.fr/particuliers/vosdroits/F33076). Vérification professionnelle avant diffusion.</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V2-04 — Espace à droite réservé au présentateur.</a:t>
            </a:r>
          </a:p>
          <a:p xmlns:a="http://schemas.openxmlformats.org/drawingml/2006/main">
            <a:r>
              <a:t># V2 — Propriété, transmission et fiscalité</a:t>
            </a:r>
          </a:p>
          <a:p xmlns:a="http://schemas.openxmlformats.org/drawingml/2006/main">
            <a:r>
              <a:t>Durée cible : 5–6 minutes avec pauses et dessin sur feuille. Fonds V2-01 à V2-04.</a:t>
            </a:r>
          </a:p>
          <a:p xmlns:a="http://schemas.openxmlformats.org/drawingml/2006/main">
            <a:r>
              <a:t>Objectif : éliminer la confusion qui faussait l’ancien simulateur. Ne pas improviser une liquidation matrimoniale à l’écran.</a:t>
            </a:r>
          </a:p>
          <a:p xmlns:a="http://schemas.openxmlformats.org/drawingml/2006/main">
            <a:r>
              <a:t/>
            </a:r>
          </a:p>
          <a:p xmlns:a="http://schemas.openxmlformats.org/drawingml/2006/main">
            <a:r>
              <a:t>## Avant de tourner</a:t>
            </a:r>
          </a:p>
          <a:p xmlns:a="http://schemas.openxmlformats.org/drawingml/2006/main">
            <a:r>
              <a:t>La propriété actuelle répond à « à qui appartient quoi ? ». La dévolution civile répond à « qui reçoit quels droits ? ». La fiscalité intervient ensuite.</a:t>
            </a:r>
          </a:p>
          <a:p xmlns:a="http://schemas.openxmlformats.org/drawingml/2006/main">
            <a:r>
              <a:t>L’exonération du conjoint ne lui attribue pas toute la succession. Un PACS ne crée pas les mêmes droits successoraux qu’un mariage. L’usufruit n’est pas la pleine propriété.</a:t>
            </a:r>
          </a:p>
          <a:p xmlns:a="http://schemas.openxmlformats.org/drawingml/2006/main">
            <a:r>
              <a:t>Les pourcentages de nue-propriété sont une valeur fiscale d’un droit, pas un taux d’impôt, ni la part physique de maison donnée.</a:t>
            </a:r>
          </a:p>
          <a:p xmlns:a="http://schemas.openxmlformats.org/drawingml/2006/main">
            <a:r>
              <a:t/>
            </a:r>
          </a:p>
          <a:p xmlns:a="http://schemas.openxmlformats.org/drawingml/2006/main">
            <a:r>
              <a:t>## Texte parlé</a:t>
            </a:r>
          </a:p>
          <a:p xmlns:a="http://schemas.openxmlformats.org/drawingml/2006/main">
            <a:r>
              <a:t>[Fond V2-01 — Trois questions différentes]</a:t>
            </a:r>
          </a:p>
          <a:p xmlns:a="http://schemas.openxmlformats.org/drawingml/2006/main">
            <a:r>
              <a:t/>
            </a:r>
          </a:p>
          <a:p xmlns:a="http://schemas.openxmlformats.org/drawingml/2006/main">
            <a:r>
              <a:t>Dans cette vidéo, nous allons séparer trois questions. C’est l’une des distinctions les plus utiles de toute la méthode.</a:t>
            </a:r>
          </a:p>
          <a:p xmlns:a="http://schemas.openxmlformats.org/drawingml/2006/main">
            <a:r>
              <a:t/>
            </a:r>
          </a:p>
          <a:p xmlns:a="http://schemas.openxmlformats.org/drawingml/2006/main">
            <a:r>
              <a:t>Première question : à qui appartient quoi aujourd’hui ?</a:t>
            </a:r>
          </a:p>
          <a:p xmlns:a="http://schemas.openxmlformats.org/drawingml/2006/main">
            <a:r>
              <a:t>Deuxième question : qui recevrait quels droits lors d’une transmission ?</a:t>
            </a:r>
          </a:p>
          <a:p xmlns:a="http://schemas.openxmlformats.org/drawingml/2006/main">
            <a:r>
              <a:t>Troisième question : comment ces droits seraient-ils taxés ?</a:t>
            </a:r>
          </a:p>
          <a:p xmlns:a="http://schemas.openxmlformats.org/drawingml/2006/main">
            <a:r>
              <a:t/>
            </a:r>
          </a:p>
          <a:p xmlns:a="http://schemas.openxmlformats.org/drawingml/2006/main">
            <a:r>
              <a:t>Si l’on commence directement par l’impôt, on risque de calculer très précisément… sur la mauvaise somme.</a:t>
            </a:r>
          </a:p>
          <a:p xmlns:a="http://schemas.openxmlformats.org/drawingml/2006/main">
            <a:r>
              <a:t/>
            </a:r>
          </a:p>
          <a:p xmlns:a="http://schemas.openxmlformats.org/drawingml/2006/main">
            <a:r>
              <a:t>Prenons un exemple fictif très simple. Deux personnes possèdent une maison de quatre cent mille euros, chacune pour moitié. Nous supposons que ce partage est confirmé par leurs actes.</a:t>
            </a:r>
          </a:p>
          <a:p xmlns:a="http://schemas.openxmlformats.org/drawingml/2006/main">
            <a:r>
              <a:t/>
            </a:r>
          </a:p>
          <a:p xmlns:a="http://schemas.openxmlformats.org/drawingml/2006/main">
            <a:r>
              <a:t>Cela ne veut pas dire que quatre cent mille euros entreraient dans la succession de la première personne qui décède. L’autre possède déjà sa propre part. Et cela ne nous dit pas encore ce que le conjoint ou les enfants recevraient dans la succession.</a:t>
            </a:r>
          </a:p>
          <a:p xmlns:a="http://schemas.openxmlformats.org/drawingml/2006/main">
            <a:r>
              <a:t/>
            </a:r>
          </a:p>
          <a:p xmlns:a="http://schemas.openxmlformats.org/drawingml/2006/main">
            <a:r>
              <a:t>Je ne vous demande pas de déterminer vous-même tous ces droits. Je vous demande de comprendre pourquoi l’acte de propriété et la situation familiale viennent avant le calcul.</a:t>
            </a:r>
          </a:p>
          <a:p xmlns:a="http://schemas.openxmlformats.org/drawingml/2006/main">
            <a:r>
              <a:t/>
            </a:r>
          </a:p>
          <a:p xmlns:a="http://schemas.openxmlformats.org/drawingml/2006/main">
            <a:r>
              <a:t>[Fond V2-02 — Exonéré ne veut pas dire seul héritier]</a:t>
            </a:r>
          </a:p>
          <a:p xmlns:a="http://schemas.openxmlformats.org/drawingml/2006/main">
            <a:r>
              <a:t/>
            </a:r>
          </a:p>
          <a:p xmlns:a="http://schemas.openxmlformats.org/drawingml/2006/main">
            <a:r>
              <a:t>Une phrase crée souvent une confusion : « Le conjoint est exonéré de droits de succession. »</a:t>
            </a:r>
          </a:p>
          <a:p xmlns:a="http://schemas.openxmlformats.org/drawingml/2006/main">
            <a:r>
              <a:t/>
            </a:r>
          </a:p>
          <a:p xmlns:a="http://schemas.openxmlformats.org/drawingml/2006/main">
            <a:r>
              <a:t>Cette phrase parle de fiscalité. Elle ne signifie pas que le conjoint hérite automatiquement de tout en pleine propriété. Les droits du conjoint et ceux des enfants dépendent notamment de la famille et des dispositions existantes.</a:t>
            </a:r>
          </a:p>
          <a:p xmlns:a="http://schemas.openxmlformats.org/drawingml/2006/main">
            <a:r>
              <a:t/>
            </a:r>
          </a:p>
          <a:p xmlns:a="http://schemas.openxmlformats.org/drawingml/2006/main">
            <a:r>
              <a:t>Il ne faut donc pas partir du principe que tout se regroupe toujours sur une seule personne, puis appliquer un seul abattement au décès suivant. Les deux successions doivent être examinées séparément.</a:t>
            </a:r>
          </a:p>
          <a:p xmlns:a="http://schemas.openxmlformats.org/drawingml/2006/main">
            <a:r>
              <a:t/>
            </a:r>
          </a:p>
          <a:p xmlns:a="http://schemas.openxmlformats.org/drawingml/2006/main">
            <a:r>
              <a:t>Même prudence pour un couple pacsé. Le régime fiscal du partenaire et son droit à hériter sont deux questions distinctes. Si c’est votre situation, demandez quelles protections existent réellement dans vos documents.</a:t>
            </a:r>
          </a:p>
          <a:p xmlns:a="http://schemas.openxmlformats.org/drawingml/2006/main">
            <a:r>
              <a:t/>
            </a:r>
          </a:p>
          <a:p xmlns:a="http://schemas.openxmlformats.org/drawingml/2006/main">
            <a:r>
              <a:t>[Fond V2-03 — Usage, revenus et propriété]</a:t>
            </a:r>
          </a:p>
          <a:p xmlns:a="http://schemas.openxmlformats.org/drawingml/2006/main">
            <a:r>
              <a:t/>
            </a:r>
          </a:p>
          <a:p xmlns:a="http://schemas.openxmlformats.org/drawingml/2006/main">
            <a:r>
              <a:t>Il reste une distinction à comprendre : l’usufruit et la nue-propriété.</a:t>
            </a:r>
          </a:p>
          <a:p xmlns:a="http://schemas.openxmlformats.org/drawingml/2006/main">
            <a:r>
              <a:t/>
            </a:r>
          </a:p>
          <a:p xmlns:a="http://schemas.openxmlformats.org/drawingml/2006/main">
            <a:r>
              <a:t>Imaginez que le droit d’utiliser un bien et d’en percevoir les revenus soit séparé du reste de la propriété. L’usufruitier peut notamment occuper le logement ou en percevoir les loyers dans le cadre de ses droits. Le nu-propriétaire détient la nue-propriété.</a:t>
            </a:r>
          </a:p>
          <a:p xmlns:a="http://schemas.openxmlformats.org/drawingml/2006/main">
            <a:r>
              <a:t/>
            </a:r>
          </a:p>
          <a:p xmlns:a="http://schemas.openxmlformats.org/drawingml/2006/main">
            <a:r>
              <a:t>Mais garder l’usufruit ne revient pas à garder tous les pouvoirs d’un plein propriétaire. Une vente de la pleine propriété, des travaux ou un besoin de liquidité soulèvent des questions à organiser.</a:t>
            </a:r>
          </a:p>
          <a:p xmlns:a="http://schemas.openxmlformats.org/drawingml/2006/main">
            <a:r>
              <a:t/>
            </a:r>
          </a:p>
          <a:p xmlns:a="http://schemas.openxmlformats.org/drawingml/2006/main">
            <a:r>
              <a:t>C’est pourquoi je n’emploie pas la formule « donner sans se déposséder ». On transmet bien un droit. La bonne question est : « Qu’est-ce que je garde, qu’est-ce que je donne, et quelles contraintes cela crée-t-il ? »</a:t>
            </a:r>
          </a:p>
          <a:p xmlns:a="http://schemas.openxmlformats.org/drawingml/2006/main">
            <a:r>
              <a:t/>
            </a:r>
          </a:p>
          <a:p xmlns:a="http://schemas.openxmlformats.org/drawingml/2006/main">
            <a:r>
              <a:t>[Fond V2-04 — Une valeur fiscale n’est pas un taux d’impôt]</a:t>
            </a:r>
          </a:p>
          <a:p xmlns:a="http://schemas.openxmlformats.org/drawingml/2006/main">
            <a:r>
              <a:t/>
            </a:r>
          </a:p>
          <a:p xmlns:a="http://schemas.openxmlformats.org/drawingml/2006/main">
            <a:r>
              <a:t>Pour un usufruit viager, le barème fiscal dépend de l’âge. Entre soixante et un et soixante-dix ans inclus, la nue-propriété est évaluée à soixante pour cent. Entre soixante et onze et quatre-vingts ans inclus, elle est évaluée à soixante-dix pour cent.</a:t>
            </a:r>
          </a:p>
          <a:p xmlns:a="http://schemas.openxmlformats.org/drawingml/2006/main">
            <a:r>
              <a:t/>
            </a:r>
          </a:p>
          <a:p xmlns:a="http://schemas.openxmlformats.org/drawingml/2006/main">
            <a:r>
              <a:t>Cela ne signifie pas que l’impôt est de soixante pour cent. Cela signifie qu’une valeur fiscale est retenue pour le droit transmis. Il faut ensuite examiner les abattements, le barème, les donations passées et les frais.</a:t>
            </a:r>
          </a:p>
          <a:p xmlns:a="http://schemas.openxmlformats.org/drawingml/2006/main">
            <a:r>
              <a:t/>
            </a:r>
          </a:p>
          <a:p xmlns:a="http://schemas.openxmlformats.org/drawingml/2006/main">
            <a:r>
              <a:t>Un anniversaire peut donc être un repère à discuter. Il ne prouve pas que vous devez signer une donation.</a:t>
            </a:r>
          </a:p>
          <a:p xmlns:a="http://schemas.openxmlformats.org/drawingml/2006/main">
            <a:r>
              <a:t/>
            </a:r>
          </a:p>
          <a:p xmlns:a="http://schemas.openxmlformats.org/drawingml/2006/main">
            <a:r>
              <a:t>Pour terminer, reprenez votre fiche et écrivez trois questions : « À qui appartient quoi ? Qui recevrait quels droits ? Sur quelle base ferait-on le calcul ? »</a:t>
            </a:r>
          </a:p>
          <a:p xmlns:a="http://schemas.openxmlformats.org/drawingml/2006/main">
            <a:r>
              <a:t/>
            </a:r>
          </a:p>
          <a:p xmlns:a="http://schemas.openxmlformats.org/drawingml/2006/main">
            <a:r>
              <a:t>Si vous pouvez distinguer ces trois questions, vous avez déjà évité une grande source de confusion. Votre prochain rendez-vous pourra porter sur votre situation, plutôt que sur un chiffre sorti de son contexte.</a:t>
            </a:r>
          </a:p>
          <a:p xmlns:a="http://schemas.openxmlformats.org/drawingml/2006/main">
            <a:r>
              <a:t/>
            </a:r>
          </a:p>
          <a:p xmlns:a="http://schemas.openxmlformats.org/drawingml/2006/main">
            <a:r>
              <a:t>## Contrôle avant validation du montage</a:t>
            </a:r>
          </a:p>
          <a:p xmlns:a="http://schemas.openxmlformats.org/drawingml/2006/main">
            <a:r>
              <a:t>Le passage à 60 % est impérativement accompagné de « 61 à 70 ans inclus » et « usufruit viager ». Garder la réserve sur la vente et les droits conservés.</a:t>
            </a:r>
          </a:p>
          <a:p xmlns:a="http://schemas.openxmlformats.org/drawingml/2006/main">
            <a:r>
              <a:t>Sources : [héritiers](https://www.service-public.gouv.fr/particuliers/vosdroits/F2529), [usufruit](https://www.service-public.gouv.fr/particuliers/vosdroits/F33076). Vérification professionnelle avant diffusion.</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V3-01 — Espace à droite réservé au présentateur.</a:t>
            </a:r>
          </a:p>
          <a:p xmlns:a="http://schemas.openxmlformats.org/drawingml/2006/main">
            <a:r>
              <a:t># V3 — Lire son assurance-vie sans la modifier</a:t>
            </a:r>
          </a:p>
          <a:p xmlns:a="http://schemas.openxmlformats.org/drawingml/2006/main">
            <a:r>
              <a:t>Durée cible : 4–5 minutes avec pauses. Fonds V3-01 à V3-03. Utiliser un faux relevé portant « Exemple fictif » ; aucune donnée de client ou de ton contrat personnel.</a:t>
            </a:r>
          </a:p>
          <a:p xmlns:a="http://schemas.openxmlformats.org/drawingml/2006/main">
            <a:r>
              <a:t/>
            </a:r>
          </a:p>
          <a:p xmlns:a="http://schemas.openxmlformats.org/drawingml/2006/main">
            <a:r>
              <a:t>## Avant de tourner</a:t>
            </a:r>
          </a:p>
          <a:p xmlns:a="http://schemas.openxmlformats.org/drawingml/2006/main">
            <a:r>
              <a:t>Une clause bénéficiaire n’est pas un testament universel. Les dates d’ouverture et de versement sont distinctes. Les deux régimes fiscaux ne taxent pas la même assiette. Une grille de documents complète ne prouve pas que le contrat est bon.</a:t>
            </a:r>
          </a:p>
          <a:p xmlns:a="http://schemas.openxmlformats.org/drawingml/2006/main">
            <a:r>
              <a:t>Nous vendons une méthode de lecture et de préparation, pas un audit financier individuel, ni une recommandation de versement.</a:t>
            </a:r>
          </a:p>
          <a:p xmlns:a="http://schemas.openxmlformats.org/drawingml/2006/main">
            <a:r>
              <a:t/>
            </a:r>
          </a:p>
          <a:p xmlns:a="http://schemas.openxmlformats.org/drawingml/2006/main">
            <a:r>
              <a:t>## Texte parlé</a:t>
            </a:r>
          </a:p>
          <a:p xmlns:a="http://schemas.openxmlformats.org/drawingml/2006/main">
            <a:r>
              <a:t>[Fond V3-01 — Les quatre informations à retrouver]</a:t>
            </a:r>
          </a:p>
          <a:p xmlns:a="http://schemas.openxmlformats.org/drawingml/2006/main">
            <a:r>
              <a:t/>
            </a:r>
          </a:p>
          <a:p xmlns:a="http://schemas.openxmlformats.org/drawingml/2006/main">
            <a:r>
              <a:t>Vous possédez une assurance-vie, mais vous n’êtes peut-être plus certain de ce qui est prévu dans le contrat. L’objectif de ce module est de retrouver les bonnes informations, pas de vous faire changer de placement.</a:t>
            </a:r>
          </a:p>
          <a:p xmlns:a="http://schemas.openxmlformats.org/drawingml/2006/main">
            <a:r>
              <a:t/>
            </a:r>
          </a:p>
          <a:p xmlns:a="http://schemas.openxmlformats.org/drawingml/2006/main">
            <a:r>
              <a:t>Posez devant vous votre dernier relevé. Pour commencer, nous cherchons quatre informations : qui est assuré, quand le contrat a été ouvert, à quelles dates les versements ont été faits et comment les bénéficiaires sont désignés.</a:t>
            </a:r>
          </a:p>
          <a:p xmlns:a="http://schemas.openxmlformats.org/drawingml/2006/main">
            <a:r>
              <a:t/>
            </a:r>
          </a:p>
          <a:p xmlns:a="http://schemas.openxmlformats.org/drawingml/2006/main">
            <a:r>
              <a:t>Vous n’avez pas tout ? C’est normal de devoir demander certaines pièces. Notez « à obtenir ». Ne reconstituez pas un historique de mémoire si vous pouvez demander un document à l’assureur.</a:t>
            </a:r>
          </a:p>
          <a:p xmlns:a="http://schemas.openxmlformats.org/drawingml/2006/main">
            <a:r>
              <a:t/>
            </a:r>
          </a:p>
          <a:p xmlns:a="http://schemas.openxmlformats.org/drawingml/2006/main">
            <a:r>
              <a:t>Le relevé annuel et la clause en vigueur ne sont pas toujours le même document. Si vous avez modifié la clause, retrouvez également les avenants. Ce qui nous intéresse, c’est la version effectivement enregistrée, pas un ancien brouillon.</a:t>
            </a:r>
          </a:p>
          <a:p xmlns:a="http://schemas.openxmlformats.org/drawingml/2006/main">
            <a:r>
              <a:t/>
            </a:r>
          </a:p>
          <a:p xmlns:a="http://schemas.openxmlformats.org/drawingml/2006/main">
            <a:r>
              <a:t>[Fond V3-02 — Relire la désignation]</a:t>
            </a:r>
          </a:p>
          <a:p xmlns:a="http://schemas.openxmlformats.org/drawingml/2006/main">
            <a:r>
              <a:t/>
            </a:r>
          </a:p>
          <a:p xmlns:a="http://schemas.openxmlformats.org/drawingml/2006/main">
            <a:r>
              <a:t>Lisez maintenant la clause, sans chercher à la corriger immédiatement.</a:t>
            </a:r>
          </a:p>
          <a:p xmlns:a="http://schemas.openxmlformats.org/drawingml/2006/main">
            <a:r>
              <a:t/>
            </a:r>
          </a:p>
          <a:p xmlns:a="http://schemas.openxmlformats.org/drawingml/2006/main">
            <a:r>
              <a:t>Demandez-vous : est-ce que certaines personnes sont prévues en premier, puis d’autres à défaut ? Ou est-ce que plusieurs personnes doivent recevoir en même temps, selon une répartition ?</a:t>
            </a:r>
          </a:p>
          <a:p xmlns:a="http://schemas.openxmlformats.org/drawingml/2006/main">
            <a:r>
              <a:t/>
            </a:r>
          </a:p>
          <a:p xmlns:a="http://schemas.openxmlformats.org/drawingml/2006/main">
            <a:r>
              <a:t>Ce n’est pas la même logique. Et si une personne décède avant vous ou ne reçoit pas le capital, savez-vous ce que la clause prévoit ? Si la réponse n’est pas claire, vous avez trouvé une bonne question.</a:t>
            </a:r>
          </a:p>
          <a:p xmlns:a="http://schemas.openxmlformats.org/drawingml/2006/main">
            <a:r>
              <a:t/>
            </a:r>
          </a:p>
          <a:p xmlns:a="http://schemas.openxmlformats.org/drawingml/2006/main">
            <a:r>
              <a:t>Il existe aussi des désignations plus complexes. Ce module ne vous demande jamais d’en choisir une dans une liste et de la recopier. La rédaction doit être adaptée et vérifiée.</a:t>
            </a:r>
          </a:p>
          <a:p xmlns:a="http://schemas.openxmlformats.org/drawingml/2006/main">
            <a:r>
              <a:t/>
            </a:r>
          </a:p>
          <a:p xmlns:a="http://schemas.openxmlformats.org/drawingml/2006/main">
            <a:r>
              <a:t>Si un bénéficiaire a accepté sa désignation, cela peut avoir des conséquences sur certaines opérations. Demandez à l’assureur ce qui est enregistré. Ne concluez pas que la voie est libre parce que vous ne vous souvenez pas d’une signature.</a:t>
            </a:r>
          </a:p>
          <a:p xmlns:a="http://schemas.openxmlformats.org/drawingml/2006/main">
            <a:r>
              <a:t/>
            </a:r>
          </a:p>
          <a:p xmlns:a="http://schemas.openxmlformats.org/drawingml/2006/main">
            <a:r>
              <a:t>[Fond V3-03 — Demander avant de modifier]</a:t>
            </a:r>
          </a:p>
          <a:p xmlns:a="http://schemas.openxmlformats.org/drawingml/2006/main">
            <a:r>
              <a:t/>
            </a:r>
          </a:p>
          <a:p xmlns:a="http://schemas.openxmlformats.org/drawingml/2006/main">
            <a:r>
              <a:t>Sur la fiscalité, retenez surtout ceci : la date d’ouverture du contrat ne remplace pas la date des versements. Et les règles avant et après soixante-dix ans ne reposent pas sur la même base de calcul.</a:t>
            </a:r>
          </a:p>
          <a:p xmlns:a="http://schemas.openxmlformats.org/drawingml/2006/main">
            <a:r>
              <a:t/>
            </a:r>
          </a:p>
          <a:p xmlns:a="http://schemas.openxmlformats.org/drawingml/2006/main">
            <a:r>
              <a:t>Comparer deux montants d’abattement sans comprendre ce qui est taxé peut conduire à une mauvaise conclusion. Les contrats anciens, la situation des bénéficiaires et les exonérations comptent aussi.</a:t>
            </a:r>
          </a:p>
          <a:p xmlns:a="http://schemas.openxmlformats.org/drawingml/2006/main">
            <a:r>
              <a:t/>
            </a:r>
          </a:p>
          <a:p xmlns:a="http://schemas.openxmlformats.org/drawingml/2006/main">
            <a:r>
              <a:t>Votre action est donc simple : remplissez la fiche de lecture, puis utilisez le courrier pour demander les informations manquantes. Ce courrier ne donne aucun ordre de rachat, de versement ou de modification.</a:t>
            </a:r>
          </a:p>
          <a:p xmlns:a="http://schemas.openxmlformats.org/drawingml/2006/main">
            <a:r>
              <a:t/>
            </a:r>
          </a:p>
          <a:p xmlns:a="http://schemas.openxmlformats.org/drawingml/2006/main">
            <a:r>
              <a:t>Quand vous recevez la réponse, classez-la avec le contrat. Notez ce qui est désormais clair et ce qui doit être revu avec le notaire.</a:t>
            </a:r>
          </a:p>
          <a:p xmlns:a="http://schemas.openxmlformats.org/drawingml/2006/main">
            <a:r>
              <a:t/>
            </a:r>
          </a:p>
          <a:p xmlns:a="http://schemas.openxmlformats.org/drawingml/2006/main">
            <a:r>
              <a:t>Vous avez terminé lorsque vous savez quels documents sont à jour, ce qui reste à vérifier et quelle question poser. Vous n’avez pas besoin de réaliser une opération financière pour tirer parti de ce module.</a:t>
            </a:r>
          </a:p>
          <a:p xmlns:a="http://schemas.openxmlformats.org/drawingml/2006/main">
            <a:r>
              <a:t/>
            </a:r>
          </a:p>
          <a:p xmlns:a="http://schemas.openxmlformats.org/drawingml/2006/main">
            <a:r>
              <a:t>## Vérification de compréhension</a:t>
            </a:r>
          </a:p>
          <a:p xmlns:a="http://schemas.openxmlformats.org/drawingml/2006/main">
            <a:r>
              <a:t>- Contrat ouvert à 45 ans, versement à 73 ans : l’âge à l’ouverture ne suffit pas.</a:t>
            </a:r>
          </a:p>
          <a:p xmlns:a="http://schemas.openxmlformats.org/drawingml/2006/main">
            <a:r>
              <a:t>- Grille entièrement remplie : informations retrouvées, pas note de qualité financière.</a:t>
            </a:r>
          </a:p>
          <a:p xmlns:a="http://schemas.openxmlformats.org/drawingml/2006/main">
            <a:r>
              <a:t>- Réponse inconnue : demander un écrit, jamais changer par défaut.</a:t>
            </a:r>
          </a:p>
          <a:p xmlns:a="http://schemas.openxmlformats.org/drawingml/2006/main">
            <a:r>
              <a:t>Source : [documentation assurance-vie de l’administration fiscale](https://www.impots.gouv.fr/je-suis-beneficiaire-dune-assurance-vie).</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V3-02 — Espace à droite réservé au présentateur.</a:t>
            </a:r>
          </a:p>
          <a:p xmlns:a="http://schemas.openxmlformats.org/drawingml/2006/main">
            <a:r>
              <a:t># V3 — Lire son assurance-vie sans la modifier</a:t>
            </a:r>
          </a:p>
          <a:p xmlns:a="http://schemas.openxmlformats.org/drawingml/2006/main">
            <a:r>
              <a:t>Durée cible : 4–5 minutes avec pauses. Fonds V3-01 à V3-03. Utiliser un faux relevé portant « Exemple fictif » ; aucune donnée de client ou de ton contrat personnel.</a:t>
            </a:r>
          </a:p>
          <a:p xmlns:a="http://schemas.openxmlformats.org/drawingml/2006/main">
            <a:r>
              <a:t/>
            </a:r>
          </a:p>
          <a:p xmlns:a="http://schemas.openxmlformats.org/drawingml/2006/main">
            <a:r>
              <a:t>## Avant de tourner</a:t>
            </a:r>
          </a:p>
          <a:p xmlns:a="http://schemas.openxmlformats.org/drawingml/2006/main">
            <a:r>
              <a:t>Une clause bénéficiaire n’est pas un testament universel. Les dates d’ouverture et de versement sont distinctes. Les deux régimes fiscaux ne taxent pas la même assiette. Une grille de documents complète ne prouve pas que le contrat est bon.</a:t>
            </a:r>
          </a:p>
          <a:p xmlns:a="http://schemas.openxmlformats.org/drawingml/2006/main">
            <a:r>
              <a:t>Nous vendons une méthode de lecture et de préparation, pas un audit financier individuel, ni une recommandation de versement.</a:t>
            </a:r>
          </a:p>
          <a:p xmlns:a="http://schemas.openxmlformats.org/drawingml/2006/main">
            <a:r>
              <a:t/>
            </a:r>
          </a:p>
          <a:p xmlns:a="http://schemas.openxmlformats.org/drawingml/2006/main">
            <a:r>
              <a:t>## Texte parlé</a:t>
            </a:r>
          </a:p>
          <a:p xmlns:a="http://schemas.openxmlformats.org/drawingml/2006/main">
            <a:r>
              <a:t>[Fond V3-01 — Les quatre informations à retrouver]</a:t>
            </a:r>
          </a:p>
          <a:p xmlns:a="http://schemas.openxmlformats.org/drawingml/2006/main">
            <a:r>
              <a:t/>
            </a:r>
          </a:p>
          <a:p xmlns:a="http://schemas.openxmlformats.org/drawingml/2006/main">
            <a:r>
              <a:t>Vous possédez une assurance-vie, mais vous n’êtes peut-être plus certain de ce qui est prévu dans le contrat. L’objectif de ce module est de retrouver les bonnes informations, pas de vous faire changer de placement.</a:t>
            </a:r>
          </a:p>
          <a:p xmlns:a="http://schemas.openxmlformats.org/drawingml/2006/main">
            <a:r>
              <a:t/>
            </a:r>
          </a:p>
          <a:p xmlns:a="http://schemas.openxmlformats.org/drawingml/2006/main">
            <a:r>
              <a:t>Posez devant vous votre dernier relevé. Pour commencer, nous cherchons quatre informations : qui est assuré, quand le contrat a été ouvert, à quelles dates les versements ont été faits et comment les bénéficiaires sont désignés.</a:t>
            </a:r>
          </a:p>
          <a:p xmlns:a="http://schemas.openxmlformats.org/drawingml/2006/main">
            <a:r>
              <a:t/>
            </a:r>
          </a:p>
          <a:p xmlns:a="http://schemas.openxmlformats.org/drawingml/2006/main">
            <a:r>
              <a:t>Vous n’avez pas tout ? C’est normal de devoir demander certaines pièces. Notez « à obtenir ». Ne reconstituez pas un historique de mémoire si vous pouvez demander un document à l’assureur.</a:t>
            </a:r>
          </a:p>
          <a:p xmlns:a="http://schemas.openxmlformats.org/drawingml/2006/main">
            <a:r>
              <a:t/>
            </a:r>
          </a:p>
          <a:p xmlns:a="http://schemas.openxmlformats.org/drawingml/2006/main">
            <a:r>
              <a:t>Le relevé annuel et la clause en vigueur ne sont pas toujours le même document. Si vous avez modifié la clause, retrouvez également les avenants. Ce qui nous intéresse, c’est la version effectivement enregistrée, pas un ancien brouillon.</a:t>
            </a:r>
          </a:p>
          <a:p xmlns:a="http://schemas.openxmlformats.org/drawingml/2006/main">
            <a:r>
              <a:t/>
            </a:r>
          </a:p>
          <a:p xmlns:a="http://schemas.openxmlformats.org/drawingml/2006/main">
            <a:r>
              <a:t>[Fond V3-02 — Relire la désignation]</a:t>
            </a:r>
          </a:p>
          <a:p xmlns:a="http://schemas.openxmlformats.org/drawingml/2006/main">
            <a:r>
              <a:t/>
            </a:r>
          </a:p>
          <a:p xmlns:a="http://schemas.openxmlformats.org/drawingml/2006/main">
            <a:r>
              <a:t>Lisez maintenant la clause, sans chercher à la corriger immédiatement.</a:t>
            </a:r>
          </a:p>
          <a:p xmlns:a="http://schemas.openxmlformats.org/drawingml/2006/main">
            <a:r>
              <a:t/>
            </a:r>
          </a:p>
          <a:p xmlns:a="http://schemas.openxmlformats.org/drawingml/2006/main">
            <a:r>
              <a:t>Demandez-vous : est-ce que certaines personnes sont prévues en premier, puis d’autres à défaut ? Ou est-ce que plusieurs personnes doivent recevoir en même temps, selon une répartition ?</a:t>
            </a:r>
          </a:p>
          <a:p xmlns:a="http://schemas.openxmlformats.org/drawingml/2006/main">
            <a:r>
              <a:t/>
            </a:r>
          </a:p>
          <a:p xmlns:a="http://schemas.openxmlformats.org/drawingml/2006/main">
            <a:r>
              <a:t>Ce n’est pas la même logique. Et si une personne décède avant vous ou ne reçoit pas le capital, savez-vous ce que la clause prévoit ? Si la réponse n’est pas claire, vous avez trouvé une bonne question.</a:t>
            </a:r>
          </a:p>
          <a:p xmlns:a="http://schemas.openxmlformats.org/drawingml/2006/main">
            <a:r>
              <a:t/>
            </a:r>
          </a:p>
          <a:p xmlns:a="http://schemas.openxmlformats.org/drawingml/2006/main">
            <a:r>
              <a:t>Il existe aussi des désignations plus complexes. Ce module ne vous demande jamais d’en choisir une dans une liste et de la recopier. La rédaction doit être adaptée et vérifiée.</a:t>
            </a:r>
          </a:p>
          <a:p xmlns:a="http://schemas.openxmlformats.org/drawingml/2006/main">
            <a:r>
              <a:t/>
            </a:r>
          </a:p>
          <a:p xmlns:a="http://schemas.openxmlformats.org/drawingml/2006/main">
            <a:r>
              <a:t>Si un bénéficiaire a accepté sa désignation, cela peut avoir des conséquences sur certaines opérations. Demandez à l’assureur ce qui est enregistré. Ne concluez pas que la voie est libre parce que vous ne vous souvenez pas d’une signature.</a:t>
            </a:r>
          </a:p>
          <a:p xmlns:a="http://schemas.openxmlformats.org/drawingml/2006/main">
            <a:r>
              <a:t/>
            </a:r>
          </a:p>
          <a:p xmlns:a="http://schemas.openxmlformats.org/drawingml/2006/main">
            <a:r>
              <a:t>[Fond V3-03 — Demander avant de modifier]</a:t>
            </a:r>
          </a:p>
          <a:p xmlns:a="http://schemas.openxmlformats.org/drawingml/2006/main">
            <a:r>
              <a:t/>
            </a:r>
          </a:p>
          <a:p xmlns:a="http://schemas.openxmlformats.org/drawingml/2006/main">
            <a:r>
              <a:t>Sur la fiscalité, retenez surtout ceci : la date d’ouverture du contrat ne remplace pas la date des versements. Et les règles avant et après soixante-dix ans ne reposent pas sur la même base de calcul.</a:t>
            </a:r>
          </a:p>
          <a:p xmlns:a="http://schemas.openxmlformats.org/drawingml/2006/main">
            <a:r>
              <a:t/>
            </a:r>
          </a:p>
          <a:p xmlns:a="http://schemas.openxmlformats.org/drawingml/2006/main">
            <a:r>
              <a:t>Comparer deux montants d’abattement sans comprendre ce qui est taxé peut conduire à une mauvaise conclusion. Les contrats anciens, la situation des bénéficiaires et les exonérations comptent aussi.</a:t>
            </a:r>
          </a:p>
          <a:p xmlns:a="http://schemas.openxmlformats.org/drawingml/2006/main">
            <a:r>
              <a:t/>
            </a:r>
          </a:p>
          <a:p xmlns:a="http://schemas.openxmlformats.org/drawingml/2006/main">
            <a:r>
              <a:t>Votre action est donc simple : remplissez la fiche de lecture, puis utilisez le courrier pour demander les informations manquantes. Ce courrier ne donne aucun ordre de rachat, de versement ou de modification.</a:t>
            </a:r>
          </a:p>
          <a:p xmlns:a="http://schemas.openxmlformats.org/drawingml/2006/main">
            <a:r>
              <a:t/>
            </a:r>
          </a:p>
          <a:p xmlns:a="http://schemas.openxmlformats.org/drawingml/2006/main">
            <a:r>
              <a:t>Quand vous recevez la réponse, classez-la avec le contrat. Notez ce qui est désormais clair et ce qui doit être revu avec le notaire.</a:t>
            </a:r>
          </a:p>
          <a:p xmlns:a="http://schemas.openxmlformats.org/drawingml/2006/main">
            <a:r>
              <a:t/>
            </a:r>
          </a:p>
          <a:p xmlns:a="http://schemas.openxmlformats.org/drawingml/2006/main">
            <a:r>
              <a:t>Vous avez terminé lorsque vous savez quels documents sont à jour, ce qui reste à vérifier et quelle question poser. Vous n’avez pas besoin de réaliser une opération financière pour tirer parti de ce module.</a:t>
            </a:r>
          </a:p>
          <a:p xmlns:a="http://schemas.openxmlformats.org/drawingml/2006/main">
            <a:r>
              <a:t/>
            </a:r>
          </a:p>
          <a:p xmlns:a="http://schemas.openxmlformats.org/drawingml/2006/main">
            <a:r>
              <a:t>## Vérification de compréhension</a:t>
            </a:r>
          </a:p>
          <a:p xmlns:a="http://schemas.openxmlformats.org/drawingml/2006/main">
            <a:r>
              <a:t>- Contrat ouvert à 45 ans, versement à 73 ans : l’âge à l’ouverture ne suffit pas.</a:t>
            </a:r>
          </a:p>
          <a:p xmlns:a="http://schemas.openxmlformats.org/drawingml/2006/main">
            <a:r>
              <a:t>- Grille entièrement remplie : informations retrouvées, pas note de qualité financière.</a:t>
            </a:r>
          </a:p>
          <a:p xmlns:a="http://schemas.openxmlformats.org/drawingml/2006/main">
            <a:r>
              <a:t>- Réponse inconnue : demander un écrit, jamais changer par défaut.</a:t>
            </a:r>
          </a:p>
          <a:p xmlns:a="http://schemas.openxmlformats.org/drawingml/2006/main">
            <a:r>
              <a:t>Source : [documentation assurance-vie de l’administration fiscale](https://www.impots.gouv.fr/je-suis-beneficiaire-dune-assurance-vie).</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V3-03 — Espace à droite réservé au présentateur.</a:t>
            </a:r>
          </a:p>
          <a:p xmlns:a="http://schemas.openxmlformats.org/drawingml/2006/main">
            <a:r>
              <a:t># V3 — Lire son assurance-vie sans la modifier</a:t>
            </a:r>
          </a:p>
          <a:p xmlns:a="http://schemas.openxmlformats.org/drawingml/2006/main">
            <a:r>
              <a:t>Durée cible : 4–5 minutes avec pauses. Fonds V3-01 à V3-03. Utiliser un faux relevé portant « Exemple fictif » ; aucune donnée de client ou de ton contrat personnel.</a:t>
            </a:r>
          </a:p>
          <a:p xmlns:a="http://schemas.openxmlformats.org/drawingml/2006/main">
            <a:r>
              <a:t/>
            </a:r>
          </a:p>
          <a:p xmlns:a="http://schemas.openxmlformats.org/drawingml/2006/main">
            <a:r>
              <a:t>## Avant de tourner</a:t>
            </a:r>
          </a:p>
          <a:p xmlns:a="http://schemas.openxmlformats.org/drawingml/2006/main">
            <a:r>
              <a:t>Une clause bénéficiaire n’est pas un testament universel. Les dates d’ouverture et de versement sont distinctes. Les deux régimes fiscaux ne taxent pas la même assiette. Une grille de documents complète ne prouve pas que le contrat est bon.</a:t>
            </a:r>
          </a:p>
          <a:p xmlns:a="http://schemas.openxmlformats.org/drawingml/2006/main">
            <a:r>
              <a:t>Nous vendons une méthode de lecture et de préparation, pas un audit financier individuel, ni une recommandation de versement.</a:t>
            </a:r>
          </a:p>
          <a:p xmlns:a="http://schemas.openxmlformats.org/drawingml/2006/main">
            <a:r>
              <a:t/>
            </a:r>
          </a:p>
          <a:p xmlns:a="http://schemas.openxmlformats.org/drawingml/2006/main">
            <a:r>
              <a:t>## Texte parlé</a:t>
            </a:r>
          </a:p>
          <a:p xmlns:a="http://schemas.openxmlformats.org/drawingml/2006/main">
            <a:r>
              <a:t>[Fond V3-01 — Les quatre informations à retrouver]</a:t>
            </a:r>
          </a:p>
          <a:p xmlns:a="http://schemas.openxmlformats.org/drawingml/2006/main">
            <a:r>
              <a:t/>
            </a:r>
          </a:p>
          <a:p xmlns:a="http://schemas.openxmlformats.org/drawingml/2006/main">
            <a:r>
              <a:t>Vous possédez une assurance-vie, mais vous n’êtes peut-être plus certain de ce qui est prévu dans le contrat. L’objectif de ce module est de retrouver les bonnes informations, pas de vous faire changer de placement.</a:t>
            </a:r>
          </a:p>
          <a:p xmlns:a="http://schemas.openxmlformats.org/drawingml/2006/main">
            <a:r>
              <a:t/>
            </a:r>
          </a:p>
          <a:p xmlns:a="http://schemas.openxmlformats.org/drawingml/2006/main">
            <a:r>
              <a:t>Posez devant vous votre dernier relevé. Pour commencer, nous cherchons quatre informations : qui est assuré, quand le contrat a été ouvert, à quelles dates les versements ont été faits et comment les bénéficiaires sont désignés.</a:t>
            </a:r>
          </a:p>
          <a:p xmlns:a="http://schemas.openxmlformats.org/drawingml/2006/main">
            <a:r>
              <a:t/>
            </a:r>
          </a:p>
          <a:p xmlns:a="http://schemas.openxmlformats.org/drawingml/2006/main">
            <a:r>
              <a:t>Vous n’avez pas tout ? C’est normal de devoir demander certaines pièces. Notez « à obtenir ». Ne reconstituez pas un historique de mémoire si vous pouvez demander un document à l’assureur.</a:t>
            </a:r>
          </a:p>
          <a:p xmlns:a="http://schemas.openxmlformats.org/drawingml/2006/main">
            <a:r>
              <a:t/>
            </a:r>
          </a:p>
          <a:p xmlns:a="http://schemas.openxmlformats.org/drawingml/2006/main">
            <a:r>
              <a:t>Le relevé annuel et la clause en vigueur ne sont pas toujours le même document. Si vous avez modifié la clause, retrouvez également les avenants. Ce qui nous intéresse, c’est la version effectivement enregistrée, pas un ancien brouillon.</a:t>
            </a:r>
          </a:p>
          <a:p xmlns:a="http://schemas.openxmlformats.org/drawingml/2006/main">
            <a:r>
              <a:t/>
            </a:r>
          </a:p>
          <a:p xmlns:a="http://schemas.openxmlformats.org/drawingml/2006/main">
            <a:r>
              <a:t>[Fond V3-02 — Relire la désignation]</a:t>
            </a:r>
          </a:p>
          <a:p xmlns:a="http://schemas.openxmlformats.org/drawingml/2006/main">
            <a:r>
              <a:t/>
            </a:r>
          </a:p>
          <a:p xmlns:a="http://schemas.openxmlformats.org/drawingml/2006/main">
            <a:r>
              <a:t>Lisez maintenant la clause, sans chercher à la corriger immédiatement.</a:t>
            </a:r>
          </a:p>
          <a:p xmlns:a="http://schemas.openxmlformats.org/drawingml/2006/main">
            <a:r>
              <a:t/>
            </a:r>
          </a:p>
          <a:p xmlns:a="http://schemas.openxmlformats.org/drawingml/2006/main">
            <a:r>
              <a:t>Demandez-vous : est-ce que certaines personnes sont prévues en premier, puis d’autres à défaut ? Ou est-ce que plusieurs personnes doivent recevoir en même temps, selon une répartition ?</a:t>
            </a:r>
          </a:p>
          <a:p xmlns:a="http://schemas.openxmlformats.org/drawingml/2006/main">
            <a:r>
              <a:t/>
            </a:r>
          </a:p>
          <a:p xmlns:a="http://schemas.openxmlformats.org/drawingml/2006/main">
            <a:r>
              <a:t>Ce n’est pas la même logique. Et si une personne décède avant vous ou ne reçoit pas le capital, savez-vous ce que la clause prévoit ? Si la réponse n’est pas claire, vous avez trouvé une bonne question.</a:t>
            </a:r>
          </a:p>
          <a:p xmlns:a="http://schemas.openxmlformats.org/drawingml/2006/main">
            <a:r>
              <a:t/>
            </a:r>
          </a:p>
          <a:p xmlns:a="http://schemas.openxmlformats.org/drawingml/2006/main">
            <a:r>
              <a:t>Il existe aussi des désignations plus complexes. Ce module ne vous demande jamais d’en choisir une dans une liste et de la recopier. La rédaction doit être adaptée et vérifiée.</a:t>
            </a:r>
          </a:p>
          <a:p xmlns:a="http://schemas.openxmlformats.org/drawingml/2006/main">
            <a:r>
              <a:t/>
            </a:r>
          </a:p>
          <a:p xmlns:a="http://schemas.openxmlformats.org/drawingml/2006/main">
            <a:r>
              <a:t>Si un bénéficiaire a accepté sa désignation, cela peut avoir des conséquences sur certaines opérations. Demandez à l’assureur ce qui est enregistré. Ne concluez pas que la voie est libre parce que vous ne vous souvenez pas d’une signature.</a:t>
            </a:r>
          </a:p>
          <a:p xmlns:a="http://schemas.openxmlformats.org/drawingml/2006/main">
            <a:r>
              <a:t/>
            </a:r>
          </a:p>
          <a:p xmlns:a="http://schemas.openxmlformats.org/drawingml/2006/main">
            <a:r>
              <a:t>[Fond V3-03 — Demander avant de modifier]</a:t>
            </a:r>
          </a:p>
          <a:p xmlns:a="http://schemas.openxmlformats.org/drawingml/2006/main">
            <a:r>
              <a:t/>
            </a:r>
          </a:p>
          <a:p xmlns:a="http://schemas.openxmlformats.org/drawingml/2006/main">
            <a:r>
              <a:t>Sur la fiscalité, retenez surtout ceci : la date d’ouverture du contrat ne remplace pas la date des versements. Et les règles avant et après soixante-dix ans ne reposent pas sur la même base de calcul.</a:t>
            </a:r>
          </a:p>
          <a:p xmlns:a="http://schemas.openxmlformats.org/drawingml/2006/main">
            <a:r>
              <a:t/>
            </a:r>
          </a:p>
          <a:p xmlns:a="http://schemas.openxmlformats.org/drawingml/2006/main">
            <a:r>
              <a:t>Comparer deux montants d’abattement sans comprendre ce qui est taxé peut conduire à une mauvaise conclusion. Les contrats anciens, la situation des bénéficiaires et les exonérations comptent aussi.</a:t>
            </a:r>
          </a:p>
          <a:p xmlns:a="http://schemas.openxmlformats.org/drawingml/2006/main">
            <a:r>
              <a:t/>
            </a:r>
          </a:p>
          <a:p xmlns:a="http://schemas.openxmlformats.org/drawingml/2006/main">
            <a:r>
              <a:t>Votre action est donc simple : remplissez la fiche de lecture, puis utilisez le courrier pour demander les informations manquantes. Ce courrier ne donne aucun ordre de rachat, de versement ou de modification.</a:t>
            </a:r>
          </a:p>
          <a:p xmlns:a="http://schemas.openxmlformats.org/drawingml/2006/main">
            <a:r>
              <a:t/>
            </a:r>
          </a:p>
          <a:p xmlns:a="http://schemas.openxmlformats.org/drawingml/2006/main">
            <a:r>
              <a:t>Quand vous recevez la réponse, classez-la avec le contrat. Notez ce qui est désormais clair et ce qui doit être revu avec le notaire.</a:t>
            </a:r>
          </a:p>
          <a:p xmlns:a="http://schemas.openxmlformats.org/drawingml/2006/main">
            <a:r>
              <a:t/>
            </a:r>
          </a:p>
          <a:p xmlns:a="http://schemas.openxmlformats.org/drawingml/2006/main">
            <a:r>
              <a:t>Vous avez terminé lorsque vous savez quels documents sont à jour, ce qui reste à vérifier et quelle question poser. Vous n’avez pas besoin de réaliser une opération financière pour tirer parti de ce module.</a:t>
            </a:r>
          </a:p>
          <a:p xmlns:a="http://schemas.openxmlformats.org/drawingml/2006/main">
            <a:r>
              <a:t/>
            </a:r>
          </a:p>
          <a:p xmlns:a="http://schemas.openxmlformats.org/drawingml/2006/main">
            <a:r>
              <a:t>## Vérification de compréhension</a:t>
            </a:r>
          </a:p>
          <a:p xmlns:a="http://schemas.openxmlformats.org/drawingml/2006/main">
            <a:r>
              <a:t>- Contrat ouvert à 45 ans, versement à 73 ans : l’âge à l’ouverture ne suffit pas.</a:t>
            </a:r>
          </a:p>
          <a:p xmlns:a="http://schemas.openxmlformats.org/drawingml/2006/main">
            <a:r>
              <a:t>- Grille entièrement remplie : informations retrouvées, pas note de qualité financière.</a:t>
            </a:r>
          </a:p>
          <a:p xmlns:a="http://schemas.openxmlformats.org/drawingml/2006/main">
            <a:r>
              <a:t>- Réponse inconnue : demander un écrit, jamais changer par défaut.</a:t>
            </a:r>
          </a:p>
          <a:p xmlns:a="http://schemas.openxmlformats.org/drawingml/2006/main">
            <a:r>
              <a:t>Source : [documentation assurance-vie de l’administration fiscale](https://www.impots.gouv.fr/je-suis-beneficiaire-dune-assurance-vie).</a:t>
            </a:r>
          </a:p>
          <a:p xmlns:a="http://schemas.openxmlformats.org/drawingml/2006/main">
            <a:r>
              <a:t/>
            </a:r>
          </a:p>
          <a:p xmlns:a="http://schemas.openxmlformats.org/drawingml/2006/main">
            <a:r>
              <a:t>Sources : https://www.service-public.gouv.fr/particuliers/vosdroits/F2529 ; https://www.service-public.gouv.fr/particuliers/vosdroits/F33076 ; https://www.impots.gouv.fr/je-suis-beneficiaire-dune-assurance-vie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4fc706407f48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234d7df81445d9" /><Relationship Type="http://schemas.openxmlformats.org/officeDocument/2006/relationships/slideLayout" Target="/ppt/slideLayouts/slideLayout1.xml" Id="R582c6636557247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2c6636557247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55aeb71f7b474a" /><Relationship Type="http://schemas.openxmlformats.org/officeDocument/2006/relationships/notesSlide" Target="/ppt/notesSlides/notesSlide1.xml" Id="R43ba7de0f3514e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2dcc1e4ffd4372" /><Relationship Type="http://schemas.openxmlformats.org/officeDocument/2006/relationships/notesSlide" Target="/ppt/notesSlides/notesSlide2.xml" Id="R1747996b5eb04a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9bfd103612455c" /><Relationship Type="http://schemas.openxmlformats.org/officeDocument/2006/relationships/notesSlide" Target="/ppt/notesSlides/notesSlide3.xml" Id="Rffeec94a423b45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09c5f647224a5b" /><Relationship Type="http://schemas.openxmlformats.org/officeDocument/2006/relationships/notesSlide" Target="/ppt/notesSlides/notesSlide4.xml" Id="Rf4ebd11102d741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879bc7231b476f" /><Relationship Type="http://schemas.openxmlformats.org/officeDocument/2006/relationships/notesSlide" Target="/ppt/notesSlides/notesSlide5.xml" Id="R0207781ab2a64d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44b74886bf4301" /><Relationship Type="http://schemas.openxmlformats.org/officeDocument/2006/relationships/notesSlide" Target="/ppt/notesSlides/notesSlide6.xml" Id="R37587f50c00a4c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4e0255796240e0" /><Relationship Type="http://schemas.openxmlformats.org/officeDocument/2006/relationships/notesSlide" Target="/ppt/notesSlides/notesSlide7.xml" Id="R7dd9fb0ee40e41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3a218bf9ce486d" /><Relationship Type="http://schemas.openxmlformats.org/officeDocument/2006/relationships/notesSlide" Target="/ppt/notesSlides/notesSlide8.xml" Id="R74e11ba81eeb46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9a094998f54625" /><Relationship Type="http://schemas.openxmlformats.org/officeDocument/2006/relationships/notesSlide" Target="/ppt/notesSlides/notesSlide9.xml" Id="Recccb72d8b1642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4a9a1f1c7542ea" /><Relationship Type="http://schemas.openxmlformats.org/officeDocument/2006/relationships/notesSlide" Target="/ppt/notesSlides/notesSlide10.xml" Id="R4186cde4e83d4649" /></Relationships>
</file>

<file path=ppt/slides/slide1.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16E54A-A32C-44D2-9EDD-9455CDE6A01C}"/>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D4FBADC2-2056-4EFA-9BF9-F55493E35D26}"/>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Une fiche pour commencer</a:t>
            </a:r>
          </a:p>
        </p:txBody>
      </p:sp>
      <p:sp>
        <p:nvSpPr>
          <p:cNvPr id="3" name="">
            <a:extLst xmlns:a="http://schemas.openxmlformats.org/drawingml/2006/main">
              <a:ext uri="{FF2B5EF4-FFF2-40B4-BE49-F238E27FC236}">
                <a16:creationId xmlns:a16="http://schemas.microsoft.com/office/drawing/2014/main" id="{0F541A9A-9466-4E26-AA96-AE38A8E23A29}"/>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Votre objectif</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Une information à retrouver</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Une question à faire vérifier</a:t>
            </a:r>
          </a:p>
        </p:txBody>
      </p:sp>
      <p:sp>
        <p:nvSpPr>
          <p:cNvPr id="4" name="">
            <a:extLst xmlns:a="http://schemas.openxmlformats.org/drawingml/2006/main">
              <a:ext uri="{FF2B5EF4-FFF2-40B4-BE49-F238E27FC236}">
                <a16:creationId xmlns:a16="http://schemas.microsoft.com/office/drawing/2014/main" id="{DE26B821-66EE-4FAA-A01B-CF7092F6E734}"/>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Aucune décision irréversible aujourd’hui</a:t>
            </a:r>
          </a:p>
        </p:txBody>
      </p:sp>
      <p:sp>
        <p:nvSpPr>
          <p:cNvPr id="5" name="">
            <a:extLst xmlns:a="http://schemas.openxmlformats.org/drawingml/2006/main">
              <a:ext uri="{FF2B5EF4-FFF2-40B4-BE49-F238E27FC236}">
                <a16:creationId xmlns:a16="http://schemas.microsoft.com/office/drawing/2014/main" id="{8045388D-6E12-410A-97C6-0195E6DCB3E2}"/>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1444455046"/>
      </p:ext>
    </p:extLst>
  </p:cSld>
</p:sld>
</file>

<file path=ppt/slides/slide2.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2F896E-C06D-43B8-AE8E-9265421F3A29}"/>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D63BC73B-D4CC-410A-84DC-B2EDB5CB43AF}"/>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Votre première fiche</a:t>
            </a:r>
          </a:p>
        </p:txBody>
      </p:sp>
      <p:sp>
        <p:nvSpPr>
          <p:cNvPr id="3" name="">
            <a:extLst xmlns:a="http://schemas.openxmlformats.org/drawingml/2006/main">
              <a:ext uri="{FF2B5EF4-FFF2-40B4-BE49-F238E27FC236}">
                <a16:creationId xmlns:a16="http://schemas.microsoft.com/office/drawing/2014/main" id="{C8E88FD3-2175-4F1D-8F68-92E6FC50A3A5}"/>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Ce que je sais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Ce qui me manque</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Ma question</a:t>
            </a:r>
          </a:p>
        </p:txBody>
      </p:sp>
      <p:sp>
        <p:nvSpPr>
          <p:cNvPr id="4" name="">
            <a:extLst xmlns:a="http://schemas.openxmlformats.org/drawingml/2006/main">
              <a:ext uri="{FF2B5EF4-FFF2-40B4-BE49-F238E27FC236}">
                <a16:creationId xmlns:a16="http://schemas.microsoft.com/office/drawing/2014/main" id="{40ACE586-BDEC-49D8-B223-2FC28D0304B1}"/>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 À vérifier » ne veut pas dire zéro</a:t>
            </a:r>
          </a:p>
        </p:txBody>
      </p:sp>
      <p:sp>
        <p:nvSpPr>
          <p:cNvPr id="5" name="">
            <a:extLst xmlns:a="http://schemas.openxmlformats.org/drawingml/2006/main">
              <a:ext uri="{FF2B5EF4-FFF2-40B4-BE49-F238E27FC236}">
                <a16:creationId xmlns:a16="http://schemas.microsoft.com/office/drawing/2014/main" id="{F97D71DB-A2EC-4C3A-B991-282FF90384BE}"/>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951174542"/>
      </p:ext>
    </p:extLst>
  </p:cSld>
</p:sld>
</file>

<file path=ppt/slides/slide3.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431174-E77B-482B-89DF-6A4C4345F680}"/>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1632834B-055E-49C2-84B6-775DF6D708C0}"/>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Votre sécurité d’abord</a:t>
            </a:r>
          </a:p>
        </p:txBody>
      </p:sp>
      <p:sp>
        <p:nvSpPr>
          <p:cNvPr id="3" name="">
            <a:extLst xmlns:a="http://schemas.openxmlformats.org/drawingml/2006/main">
              <a:ext uri="{FF2B5EF4-FFF2-40B4-BE49-F238E27FC236}">
                <a16:creationId xmlns:a16="http://schemas.microsoft.com/office/drawing/2014/main" id="{F43B3A82-77A4-4962-974C-B56D5BBE2A06}"/>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Vivre aujourd’hui</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Garder une marge</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Envisager la transmission</a:t>
            </a:r>
          </a:p>
        </p:txBody>
      </p:sp>
      <p:sp>
        <p:nvSpPr>
          <p:cNvPr id="4" name="">
            <a:extLst xmlns:a="http://schemas.openxmlformats.org/drawingml/2006/main">
              <a:ext uri="{FF2B5EF4-FFF2-40B4-BE49-F238E27FC236}">
                <a16:creationId xmlns:a16="http://schemas.microsoft.com/office/drawing/2014/main" id="{DDF063E6-792E-47D5-8303-D5CF71BAF98E}"/>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La valeur d’une maison n’est pas de l’argent disponible</a:t>
            </a:r>
          </a:p>
        </p:txBody>
      </p:sp>
      <p:sp>
        <p:nvSpPr>
          <p:cNvPr id="5" name="">
            <a:extLst xmlns:a="http://schemas.openxmlformats.org/drawingml/2006/main">
              <a:ext uri="{FF2B5EF4-FFF2-40B4-BE49-F238E27FC236}">
                <a16:creationId xmlns:a16="http://schemas.microsoft.com/office/drawing/2014/main" id="{22EB4351-85C0-4BF3-B9AF-8C16E2D9704A}"/>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1795392266"/>
      </p:ext>
    </p:extLst>
  </p:cSld>
</p:sld>
</file>

<file path=ppt/slides/slide4.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28296F-55AB-49F4-9EBD-D2F380CF6262}"/>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F76DA13D-494D-45AB-BFE3-F4FEE055ECFB}"/>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Trois questions différentes</a:t>
            </a:r>
          </a:p>
        </p:txBody>
      </p:sp>
      <p:sp>
        <p:nvSpPr>
          <p:cNvPr id="3" name="">
            <a:extLst xmlns:a="http://schemas.openxmlformats.org/drawingml/2006/main">
              <a:ext uri="{FF2B5EF4-FFF2-40B4-BE49-F238E27FC236}">
                <a16:creationId xmlns:a16="http://schemas.microsoft.com/office/drawing/2014/main" id="{8691A0FE-067A-43A9-A207-8F972FB5D400}"/>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À qui appartient quoi ?</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Qui reçoit quels droits ?</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Sur quelle base calculer ?</a:t>
            </a:r>
          </a:p>
        </p:txBody>
      </p:sp>
      <p:sp>
        <p:nvSpPr>
          <p:cNvPr id="4" name="">
            <a:extLst xmlns:a="http://schemas.openxmlformats.org/drawingml/2006/main">
              <a:ext uri="{FF2B5EF4-FFF2-40B4-BE49-F238E27FC236}">
                <a16:creationId xmlns:a16="http://schemas.microsoft.com/office/drawing/2014/main" id="{2F1AEF95-16E1-47D7-BA3C-D626509073FA}"/>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La propriété et les droits civils précèdent la fiscalité</a:t>
            </a:r>
          </a:p>
        </p:txBody>
      </p:sp>
      <p:sp>
        <p:nvSpPr>
          <p:cNvPr id="5" name="">
            <a:extLst xmlns:a="http://schemas.openxmlformats.org/drawingml/2006/main">
              <a:ext uri="{FF2B5EF4-FFF2-40B4-BE49-F238E27FC236}">
                <a16:creationId xmlns:a16="http://schemas.microsoft.com/office/drawing/2014/main" id="{742C1766-E3D8-4642-97FA-C873542FFC91}"/>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2104288348"/>
      </p:ext>
    </p:extLst>
  </p:cSld>
</p:sld>
</file>

<file path=ppt/slides/slide5.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ECBB24-A413-49FB-B21E-ABA4C66A9FD2}"/>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D14EF313-18DC-4181-B5F5-133A2C76641E}"/>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Les droits du conjoint</a:t>
            </a:r>
          </a:p>
        </p:txBody>
      </p:sp>
      <p:sp>
        <p:nvSpPr>
          <p:cNvPr id="3" name="">
            <a:extLst xmlns:a="http://schemas.openxmlformats.org/drawingml/2006/main">
              <a:ext uri="{FF2B5EF4-FFF2-40B4-BE49-F238E27FC236}">
                <a16:creationId xmlns:a16="http://schemas.microsoft.com/office/drawing/2014/main" id="{A5159D6D-A47B-4BAA-B104-D91CEFB780C5}"/>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Exonération fiscale</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Propriété de tout le patrimoine</a:t>
            </a:r>
          </a:p>
        </p:txBody>
      </p:sp>
      <p:sp>
        <p:nvSpPr>
          <p:cNvPr id="4" name="">
            <a:extLst xmlns:a="http://schemas.openxmlformats.org/drawingml/2006/main">
              <a:ext uri="{FF2B5EF4-FFF2-40B4-BE49-F238E27FC236}">
                <a16:creationId xmlns:a16="http://schemas.microsoft.com/office/drawing/2014/main" id="{90CBAFAD-1714-41A1-A378-972D0E9D613D}"/>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Chaque succession doit être examinée séparément</a:t>
            </a:r>
          </a:p>
        </p:txBody>
      </p:sp>
      <p:sp>
        <p:nvSpPr>
          <p:cNvPr id="5" name="">
            <a:extLst xmlns:a="http://schemas.openxmlformats.org/drawingml/2006/main">
              <a:ext uri="{FF2B5EF4-FFF2-40B4-BE49-F238E27FC236}">
                <a16:creationId xmlns:a16="http://schemas.microsoft.com/office/drawing/2014/main" id="{8235B1B5-204A-4F59-8837-8B11A8D3402A}"/>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232462135"/>
      </p:ext>
    </p:extLst>
  </p:cSld>
</p:sld>
</file>

<file path=ppt/slides/slide6.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FA7306-D1C1-4674-BCBA-8F1D92DB871F}"/>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6699F409-3AFB-491B-94F3-5FB232ECB347}"/>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Les droits sur le logement</a:t>
            </a:r>
          </a:p>
        </p:txBody>
      </p:sp>
      <p:sp>
        <p:nvSpPr>
          <p:cNvPr id="3" name="">
            <a:extLst xmlns:a="http://schemas.openxmlformats.org/drawingml/2006/main">
              <a:ext uri="{FF2B5EF4-FFF2-40B4-BE49-F238E27FC236}">
                <a16:creationId xmlns:a16="http://schemas.microsoft.com/office/drawing/2014/main" id="{78E7F276-86EE-4F7C-A371-89019CD657B1}"/>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Usufruit : usage et revenus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Nue-propriété : autre droit sur le bien</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Pleine propriété : les deux réunis</a:t>
            </a:r>
          </a:p>
        </p:txBody>
      </p:sp>
      <p:sp>
        <p:nvSpPr>
          <p:cNvPr id="4" name="">
            <a:extLst xmlns:a="http://schemas.openxmlformats.org/drawingml/2006/main">
              <a:ext uri="{FF2B5EF4-FFF2-40B4-BE49-F238E27FC236}">
                <a16:creationId xmlns:a16="http://schemas.microsoft.com/office/drawing/2014/main" id="{09B8F3C1-BF1C-43F0-8CD6-1C72631D1CB8}"/>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Donner la nue-propriété transfère réellement un droit</a:t>
            </a:r>
          </a:p>
        </p:txBody>
      </p:sp>
      <p:sp>
        <p:nvSpPr>
          <p:cNvPr id="5" name="">
            <a:extLst xmlns:a="http://schemas.openxmlformats.org/drawingml/2006/main">
              <a:ext uri="{FF2B5EF4-FFF2-40B4-BE49-F238E27FC236}">
                <a16:creationId xmlns:a16="http://schemas.microsoft.com/office/drawing/2014/main" id="{E879EA3A-C858-43DA-B2F0-EA0EB93B4BF1}"/>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2074768661"/>
      </p:ext>
    </p:extLst>
  </p:cSld>
</p:sld>
</file>

<file path=ppt/slides/slide7.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D23F35-65C8-4F63-9230-B5A1AE2C85C1}"/>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B43FAD8C-F679-4445-A98D-E5B785D9628F}"/>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La valeur fiscale</a:t>
            </a:r>
          </a:p>
        </p:txBody>
      </p:sp>
      <p:sp>
        <p:nvSpPr>
          <p:cNvPr id="3" name="">
            <a:extLst xmlns:a="http://schemas.openxmlformats.org/drawingml/2006/main">
              <a:ext uri="{FF2B5EF4-FFF2-40B4-BE49-F238E27FC236}">
                <a16:creationId xmlns:a16="http://schemas.microsoft.com/office/drawing/2014/main" id="{197B3471-9AD4-46F8-AC58-6F66CC477CC4}"/>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61–70 ans : nue-propriété à 60 %</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71–80 ans : nue-propriété à 70 %</a:t>
            </a:r>
          </a:p>
        </p:txBody>
      </p:sp>
      <p:sp>
        <p:nvSpPr>
          <p:cNvPr id="4" name="">
            <a:extLst xmlns:a="http://schemas.openxmlformats.org/drawingml/2006/main">
              <a:ext uri="{FF2B5EF4-FFF2-40B4-BE49-F238E27FC236}">
                <a16:creationId xmlns:a16="http://schemas.microsoft.com/office/drawing/2014/main" id="{4B21CD9C-8C1E-4D9A-960E-5EBAA253549F}"/>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Usufruit viager · Ce n’est pas un taux d’impôt</a:t>
            </a:r>
          </a:p>
        </p:txBody>
      </p:sp>
      <p:sp>
        <p:nvSpPr>
          <p:cNvPr id="5" name="">
            <a:extLst xmlns:a="http://schemas.openxmlformats.org/drawingml/2006/main">
              <a:ext uri="{FF2B5EF4-FFF2-40B4-BE49-F238E27FC236}">
                <a16:creationId xmlns:a16="http://schemas.microsoft.com/office/drawing/2014/main" id="{3686D559-256A-401C-8804-9A7BDFBAC586}"/>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1889727244"/>
      </p:ext>
    </p:extLst>
  </p:cSld>
</p:sld>
</file>

<file path=ppt/slides/slide8.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03B6ED-8B44-42EB-A887-1170FECD7AA5}"/>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BDDD3280-43AF-4299-A48F-E00779D22262}"/>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Votre contrat, en quatre repères</a:t>
            </a:r>
          </a:p>
        </p:txBody>
      </p:sp>
      <p:sp>
        <p:nvSpPr>
          <p:cNvPr id="3" name="">
            <a:extLst xmlns:a="http://schemas.openxmlformats.org/drawingml/2006/main">
              <a:ext uri="{FF2B5EF4-FFF2-40B4-BE49-F238E27FC236}">
                <a16:creationId xmlns:a16="http://schemas.microsoft.com/office/drawing/2014/main" id="{A674FD93-B5CD-4D3D-B99F-9E8CBC94C555}"/>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Qui est assuré ? Quand a-t-il été ouvert ?</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Quand les versements ont-ils été faits ?</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Qui sont les bénéficiaires ?</a:t>
            </a:r>
          </a:p>
        </p:txBody>
      </p:sp>
      <p:sp>
        <p:nvSpPr>
          <p:cNvPr id="4" name="">
            <a:extLst xmlns:a="http://schemas.openxmlformats.org/drawingml/2006/main">
              <a:ext uri="{FF2B5EF4-FFF2-40B4-BE49-F238E27FC236}">
                <a16:creationId xmlns:a16="http://schemas.microsoft.com/office/drawing/2014/main" id="{468C8484-1D31-4FF1-AB92-4442744B2B58}"/>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L’âge à l’ouverture ne remplace pas l’âge aux versements</a:t>
            </a:r>
          </a:p>
        </p:txBody>
      </p:sp>
      <p:sp>
        <p:nvSpPr>
          <p:cNvPr id="5" name="">
            <a:extLst xmlns:a="http://schemas.openxmlformats.org/drawingml/2006/main">
              <a:ext uri="{FF2B5EF4-FFF2-40B4-BE49-F238E27FC236}">
                <a16:creationId xmlns:a16="http://schemas.microsoft.com/office/drawing/2014/main" id="{F9AD46DE-498C-433A-805D-12F7AA87E2C7}"/>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333801777"/>
      </p:ext>
    </p:extLst>
  </p:cSld>
</p:sld>
</file>

<file path=ppt/slides/slide9.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7A2AFB-1218-4F2C-B4EE-8B714B9C6E06}"/>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569D980A-CFA7-48D3-9A93-36AC460C41DE}"/>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Relire la désignation</a:t>
            </a:r>
          </a:p>
        </p:txBody>
      </p:sp>
      <p:sp>
        <p:nvSpPr>
          <p:cNvPr id="3" name="">
            <a:extLst xmlns:a="http://schemas.openxmlformats.org/drawingml/2006/main">
              <a:ext uri="{FF2B5EF4-FFF2-40B4-BE49-F238E27FC236}">
                <a16:creationId xmlns:a16="http://schemas.microsoft.com/office/drawing/2014/main" id="{DA78234F-F5C8-40F9-A86D-52A55E67A7DF}"/>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Qui reçoit en premier ?</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Qui reçoit à défaut ?</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Que se passe-t-il si la famille change ?</a:t>
            </a:r>
          </a:p>
        </p:txBody>
      </p:sp>
      <p:sp>
        <p:nvSpPr>
          <p:cNvPr id="4" name="">
            <a:extLst xmlns:a="http://schemas.openxmlformats.org/drawingml/2006/main">
              <a:ext uri="{FF2B5EF4-FFF2-40B4-BE49-F238E27FC236}">
                <a16:creationId xmlns:a16="http://schemas.microsoft.com/office/drawing/2014/main" id="{67BA8484-3E28-43DB-B27C-9D143707EEE7}"/>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Comprendre une clause n’autorise pas à la recopier</a:t>
            </a:r>
          </a:p>
        </p:txBody>
      </p:sp>
      <p:sp>
        <p:nvSpPr>
          <p:cNvPr id="5" name="">
            <a:extLst xmlns:a="http://schemas.openxmlformats.org/drawingml/2006/main">
              <a:ext uri="{FF2B5EF4-FFF2-40B4-BE49-F238E27FC236}">
                <a16:creationId xmlns:a16="http://schemas.microsoft.com/office/drawing/2014/main" id="{FE7EC878-2E86-4557-9636-AAD427A4A8C9}"/>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197058769"/>
      </p:ext>
    </p:extLst>
  </p:cSld>
</p:sld>
</file>

<file path=ppt/slides/slide10.xml><?xml version="1.0" encoding="utf-8"?>
<p:sld xmlns:p="http://schemas.openxmlformats.org/presentationml/2006/main">
  <p:cSld>
    <p:bg>
      <p:bgPr>
        <a:solidFill xmlns:a="http://schemas.openxmlformats.org/drawingml/2006/main">
          <a:srgbClr val="1236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CD5BA4-EC6B-4669-B971-9469BA28BC2F}"/>
              </a:ext>
            </a:extLst>
          </p:cNvPr>
          <p:cNvSpPr>
            <a:spLocks xmlns:a="http://schemas.openxmlformats.org/drawingml/2006/main" noGrp="1"/>
          </p:cNvSpPr>
          <p:nvPr/>
        </p:nvSpPr>
        <p:spPr>
          <a:xfrm xmlns:a="http://schemas.openxmlformats.org/drawingml/2006/main">
            <a:off x="619125" y="428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5A45B"/>
                </a:solidFill>
                <a:latin typeface="Arial"/>
                <a:ea typeface="Arial"/>
                <a:cs typeface="Arial"/>
              </a:defRPr>
            </a:pPr>
            <a:r>
              <a:rPr sz="1725" b="1">
                <a:solidFill>
                  <a:srgbClr val="F5A45B"/>
                </a:solidFill>
                <a:latin typeface="Arial"/>
                <a:ea typeface="Arial"/>
                <a:cs typeface="Arial"/>
              </a:rPr>
              <a:t>HÉRITAGE INTACT</a:t>
            </a:r>
          </a:p>
        </p:txBody>
      </p:sp>
      <p:sp>
        <p:nvSpPr>
          <p:cNvPr id="2" name="">
            <a:extLst xmlns:a="http://schemas.openxmlformats.org/drawingml/2006/main">
              <a:ext uri="{FF2B5EF4-FFF2-40B4-BE49-F238E27FC236}">
                <a16:creationId xmlns:a16="http://schemas.microsoft.com/office/drawing/2014/main" id="{43BCB5CA-4999-48FB-9AA7-A1FF4A9D5D36}"/>
              </a:ext>
            </a:extLst>
          </p:cNvPr>
          <p:cNvSpPr>
            <a:spLocks xmlns:a="http://schemas.openxmlformats.org/drawingml/2006/main" noGrp="1"/>
          </p:cNvSpPr>
          <p:nvPr/>
        </p:nvSpPr>
        <p:spPr>
          <a:xfrm xmlns:a="http://schemas.openxmlformats.org/drawingml/2006/main">
            <a:off x="619125" y="1238250"/>
            <a:ext cx="752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Demander avant de modifier</a:t>
            </a:r>
          </a:p>
        </p:txBody>
      </p:sp>
      <p:sp>
        <p:nvSpPr>
          <p:cNvPr id="3" name="">
            <a:extLst xmlns:a="http://schemas.openxmlformats.org/drawingml/2006/main">
              <a:ext uri="{FF2B5EF4-FFF2-40B4-BE49-F238E27FC236}">
                <a16:creationId xmlns:a16="http://schemas.microsoft.com/office/drawing/2014/main" id="{24DE5DCA-6707-40CA-89D5-019F74615214}"/>
              </a:ext>
            </a:extLst>
          </p:cNvPr>
          <p:cNvSpPr>
            <a:spLocks xmlns:a="http://schemas.openxmlformats.org/drawingml/2006/main" noGrp="1"/>
          </p:cNvSpPr>
          <p:nvPr/>
        </p:nvSpPr>
        <p:spPr>
          <a:xfrm xmlns:a="http://schemas.openxmlformats.org/drawingml/2006/main">
            <a:off x="619125" y="2857500"/>
            <a:ext cx="752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Retrouver la version en vigueur</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Écrire vos questions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Conserver la réponse de l’assureur</a:t>
            </a:r>
          </a:p>
        </p:txBody>
      </p:sp>
      <p:sp>
        <p:nvSpPr>
          <p:cNvPr id="4" name="">
            <a:extLst xmlns:a="http://schemas.openxmlformats.org/drawingml/2006/main">
              <a:ext uri="{FF2B5EF4-FFF2-40B4-BE49-F238E27FC236}">
                <a16:creationId xmlns:a16="http://schemas.microsoft.com/office/drawing/2014/main" id="{00D49148-1288-4FE1-83CE-3EF7A0F2BB16}"/>
              </a:ext>
            </a:extLst>
          </p:cNvPr>
          <p:cNvSpPr>
            <a:spLocks xmlns:a="http://schemas.openxmlformats.org/drawingml/2006/main" noGrp="1"/>
          </p:cNvSpPr>
          <p:nvPr/>
        </p:nvSpPr>
        <p:spPr>
          <a:xfrm xmlns:a="http://schemas.openxmlformats.org/drawingml/2006/main">
            <a:off x="619125" y="5467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A45B"/>
                </a:solidFill>
                <a:latin typeface="Arial"/>
                <a:ea typeface="Arial"/>
                <a:cs typeface="Arial"/>
              </a:defRPr>
            </a:pPr>
            <a:r>
              <a:rPr sz="1725" b="0">
                <a:solidFill>
                  <a:srgbClr val="F5A45B"/>
                </a:solidFill>
                <a:latin typeface="Arial"/>
                <a:ea typeface="Arial"/>
                <a:cs typeface="Arial"/>
              </a:rPr>
              <a:t>Ni rachat, ni versement, ni modification à cette étape</a:t>
            </a:r>
          </a:p>
        </p:txBody>
      </p:sp>
      <p:sp>
        <p:nvSpPr>
          <p:cNvPr id="5" name="">
            <a:extLst xmlns:a="http://schemas.openxmlformats.org/drawingml/2006/main">
              <a:ext uri="{FF2B5EF4-FFF2-40B4-BE49-F238E27FC236}">
                <a16:creationId xmlns:a16="http://schemas.microsoft.com/office/drawing/2014/main" id="{A55AB625-0DEA-4184-9D23-6DCBE7A25317}"/>
              </a:ext>
            </a:extLst>
          </p:cNvPr>
          <p:cNvSpPr>
            <a:spLocks xmlns:a="http://schemas.openxmlformats.org/drawingml/2006/main" noGrp="1"/>
          </p:cNvSpPr>
          <p:nvPr/>
        </p:nvSpPr>
        <p:spPr>
          <a:xfrm xmlns:a="http://schemas.openxmlformats.org/drawingml/2006/main">
            <a:off x="619125" y="62960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CE5F0"/>
                </a:solidFill>
                <a:latin typeface="Arial"/>
                <a:ea typeface="Arial"/>
                <a:cs typeface="Arial"/>
              </a:defRPr>
            </a:pPr>
            <a:r>
              <a:rPr sz="1350" b="0">
                <a:solidFill>
                  <a:srgbClr val="DCE5F0"/>
                </a:solidFill>
                <a:latin typeface="Arial"/>
                <a:ea typeface="Arial"/>
                <a:cs typeface="Arial"/>
              </a:rPr>
              <a:t>Formation pédagogique · à faire valider pour votre situation</a:t>
            </a:r>
          </a:p>
        </p:txBody>
      </p:sp>
    </p:spTree>
    <p:extLst>
      <p:ext uri="{BB962C8B-B14F-4D97-AF65-F5344CB8AC3E}">
        <p14:creationId xmlns:p14="http://schemas.microsoft.com/office/powerpoint/2010/main" val="1845701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2026-09-09T12:18:52.3640000Z</dcterms:created>
  <dcterms:modified xsi:type="dcterms:W3CDTF">2026-09-09T12:18:52.3640000Z</dcterms:modified>
</coreProperties>
</file>